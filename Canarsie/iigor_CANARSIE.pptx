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350A7B4-DCC7-41F6-B9C9-3B6CB2A2DDE9}">
  <a:tblStyle styleId="{3350A7B4-DCC7-41F6-B9C9-3B6CB2A2DDE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1065937-3376-43E4-8507-63912304C080}"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bbd2b5a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bbd2b5a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bbd2b5a8d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ebbd2b5a8d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bbd2b5a8d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ebbd2b5a8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bbd2b5a8d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ebbd2b5a8d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ebbd2b5a8d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ebbd2b5a8d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bbd2b5a8d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bbd2b5a8d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Act 2 — What drives price (45 sec) </a:t>
            </a:r>
            <a:endParaRPr>
              <a:solidFill>
                <a:schemeClr val="dk1"/>
              </a:solidFill>
            </a:endParaRPr>
          </a:p>
          <a:p>
            <a:pPr indent="0" lvl="0" marL="0" rtl="0" algn="l">
              <a:lnSpc>
                <a:spcPct val="115000"/>
              </a:lnSpc>
              <a:spcBef>
                <a:spcPts val="0"/>
              </a:spcBef>
              <a:spcAft>
                <a:spcPts val="0"/>
              </a:spcAft>
              <a:buNone/>
            </a:pPr>
            <a:r>
              <a:rPr lang="en">
                <a:solidFill>
                  <a:schemeClr val="dk1"/>
                </a:solidFill>
              </a:rPr>
              <a:t>A3 regression. </a:t>
            </a:r>
            <a:endParaRPr>
              <a:solidFill>
                <a:schemeClr val="dk1"/>
              </a:solidFill>
            </a:endParaRPr>
          </a:p>
          <a:p>
            <a:pPr indent="0" lvl="0" marL="0" rtl="0" algn="l">
              <a:lnSpc>
                <a:spcPct val="115000"/>
              </a:lnSpc>
              <a:spcBef>
                <a:spcPts val="0"/>
              </a:spcBef>
              <a:spcAft>
                <a:spcPts val="0"/>
              </a:spcAft>
              <a:buNone/>
            </a:pPr>
            <a:r>
              <a:rPr lang="en">
                <a:solidFill>
                  <a:schemeClr val="dk1"/>
                </a:solidFill>
              </a:rPr>
              <a:t>What property characteristics predict sale price in this neighborhood?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This matters for the brokerage because it tells agents where to focus — which listings are worth pursuing, what differentiates high-value properties, and whether price is predictable or noisy.</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bbd2b5a8d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ebbd2b5a8d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Act 3 — Where the market is going (45 sec) A4 forecast. Is the market growing, declining, or flat? What does the confidence interval look like — wide or narrow?</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bbd2b5a8d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ebbd2b5a8d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Act 4 — The decision (90 sec) A5. Should we open? What's the optimal configuration? What is the NPV under base and conservative forecasts?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ebbd2b5a8d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ebbd2b5a8d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Act 5 — The recommendation (30 sec) One clear sentence: open or don't open, at what commission rate and staffing level, and what's the single biggest risk that would change the answer.</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ebbd2b5a8d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ebbd2b5a8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5.jpg"/><Relationship Id="rId5" Type="http://schemas.openxmlformats.org/officeDocument/2006/relationships/image" Target="../media/image3.jpg"/><Relationship Id="rId6"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colab.research.google.com/drive/1uVIPuNPJ8M9zbvCk8l8nBezipttdWl1G?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AD571_Module_6_v3.png"/>
          <p:cNvPicPr preferRelativeResize="0"/>
          <p:nvPr/>
        </p:nvPicPr>
        <p:blipFill>
          <a:blip r:embed="rId3">
            <a:alphaModFix/>
          </a:blip>
          <a:stretch>
            <a:fillRect/>
          </a:stretch>
        </p:blipFill>
        <p:spPr>
          <a:xfrm>
            <a:off x="0" y="2232"/>
            <a:ext cx="9144003" cy="5139037"/>
          </a:xfrm>
          <a:prstGeom prst="rect">
            <a:avLst/>
          </a:prstGeom>
          <a:noFill/>
          <a:ln>
            <a:noFill/>
          </a:ln>
        </p:spPr>
      </p:pic>
      <p:sp>
        <p:nvSpPr>
          <p:cNvPr id="55" name="Google Shape;55;p13"/>
          <p:cNvSpPr txBox="1"/>
          <p:nvPr>
            <p:ph type="ctrTitle"/>
          </p:nvPr>
        </p:nvSpPr>
        <p:spPr>
          <a:xfrm>
            <a:off x="311700" y="744575"/>
            <a:ext cx="8520600" cy="2672400"/>
          </a:xfrm>
          <a:prstGeom prst="rect">
            <a:avLst/>
          </a:prstGeom>
          <a:solidFill>
            <a:srgbClr val="A40C34"/>
          </a:solidFill>
        </p:spPr>
        <p:txBody>
          <a:bodyPr anchorCtr="0" anchor="b" bIns="91425" lIns="91425" spcFirstLastPara="1" rIns="91425" wrap="square" tIns="91425">
            <a:normAutofit/>
          </a:bodyPr>
          <a:lstStyle/>
          <a:p>
            <a:pPr indent="0" lvl="0" marL="0" rtl="0" algn="ctr">
              <a:spcBef>
                <a:spcPts val="0"/>
              </a:spcBef>
              <a:spcAft>
                <a:spcPts val="0"/>
              </a:spcAft>
              <a:buNone/>
            </a:pPr>
            <a:r>
              <a:rPr b="1" lang="en" sz="3200">
                <a:solidFill>
                  <a:schemeClr val="lt1"/>
                </a:solidFill>
              </a:rPr>
              <a:t>AD571 Final Presentation</a:t>
            </a:r>
            <a:endParaRPr b="1" sz="3200">
              <a:solidFill>
                <a:schemeClr val="lt1"/>
              </a:solidFill>
            </a:endParaRPr>
          </a:p>
          <a:p>
            <a:pPr indent="0" lvl="0" marL="0" rtl="0" algn="ctr">
              <a:spcBef>
                <a:spcPts val="0"/>
              </a:spcBef>
              <a:spcAft>
                <a:spcPts val="0"/>
              </a:spcAft>
              <a:buNone/>
            </a:pPr>
            <a:r>
              <a:rPr b="1" lang="en" sz="3200">
                <a:solidFill>
                  <a:schemeClr val="lt1"/>
                </a:solidFill>
              </a:rPr>
              <a:t>Canarsie, NY</a:t>
            </a:r>
            <a:endParaRPr b="1" sz="3200">
              <a:solidFill>
                <a:schemeClr val="lt1"/>
              </a:solidFill>
            </a:endParaRPr>
          </a:p>
          <a:p>
            <a:pPr indent="0" lvl="0" marL="0" rtl="0" algn="ctr">
              <a:spcBef>
                <a:spcPts val="0"/>
              </a:spcBef>
              <a:spcAft>
                <a:spcPts val="0"/>
              </a:spcAft>
              <a:buNone/>
            </a:pPr>
            <a:r>
              <a:t/>
            </a:r>
            <a:endParaRPr b="1" sz="3200">
              <a:solidFill>
                <a:schemeClr val="lt1"/>
              </a:solidFill>
            </a:endParaRPr>
          </a:p>
          <a:p>
            <a:pPr indent="0" lvl="0" marL="0" rtl="0" algn="ctr">
              <a:spcBef>
                <a:spcPts val="0"/>
              </a:spcBef>
              <a:spcAft>
                <a:spcPts val="0"/>
              </a:spcAft>
              <a:buNone/>
            </a:pPr>
            <a:r>
              <a:rPr lang="en" sz="1400">
                <a:solidFill>
                  <a:schemeClr val="lt1"/>
                </a:solidFill>
              </a:rPr>
              <a:t>Igor Iasevych</a:t>
            </a:r>
            <a:endParaRPr sz="14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title="Screenshot 2026-06-12 at 12.41.53.png"/>
          <p:cNvPicPr preferRelativeResize="0"/>
          <p:nvPr/>
        </p:nvPicPr>
        <p:blipFill>
          <a:blip r:embed="rId3">
            <a:alphaModFix/>
          </a:blip>
          <a:stretch>
            <a:fillRect/>
          </a:stretch>
        </p:blipFill>
        <p:spPr>
          <a:xfrm>
            <a:off x="458600" y="1017725"/>
            <a:ext cx="6528911" cy="3761775"/>
          </a:xfrm>
          <a:prstGeom prst="rect">
            <a:avLst/>
          </a:prstGeom>
          <a:noFill/>
          <a:ln>
            <a:noFill/>
          </a:ln>
        </p:spPr>
      </p:pic>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chemeClr val="dk2"/>
                </a:solidFill>
              </a:rPr>
              <a:t>Canarsie, NY</a:t>
            </a:r>
            <a:endParaRPr/>
          </a:p>
        </p:txBody>
      </p:sp>
      <p:sp>
        <p:nvSpPr>
          <p:cNvPr id="62" name="Google Shape;62;p14"/>
          <p:cNvSpPr/>
          <p:nvPr/>
        </p:nvSpPr>
        <p:spPr>
          <a:xfrm>
            <a:off x="0" y="0"/>
            <a:ext cx="9144000" cy="2871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3" name="Google Shape;63;p14"/>
          <p:cNvCxnSpPr/>
          <p:nvPr/>
        </p:nvCxnSpPr>
        <p:spPr>
          <a:xfrm>
            <a:off x="458600" y="976025"/>
            <a:ext cx="8255100" cy="0"/>
          </a:xfrm>
          <a:prstGeom prst="straightConnector1">
            <a:avLst/>
          </a:prstGeom>
          <a:noFill/>
          <a:ln cap="flat" cmpd="sng" w="19050">
            <a:solidFill>
              <a:schemeClr val="dk1"/>
            </a:solidFill>
            <a:prstDash val="solid"/>
            <a:round/>
            <a:headEnd len="med" w="med" type="none"/>
            <a:tailEnd len="med" w="med" type="none"/>
          </a:ln>
        </p:spPr>
      </p:cxnSp>
      <p:sp>
        <p:nvSpPr>
          <p:cNvPr id="64" name="Google Shape;64;p14"/>
          <p:cNvSpPr/>
          <p:nvPr/>
        </p:nvSpPr>
        <p:spPr>
          <a:xfrm>
            <a:off x="0" y="5084300"/>
            <a:ext cx="9144000" cy="570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4"/>
          <p:cNvSpPr/>
          <p:nvPr/>
        </p:nvSpPr>
        <p:spPr>
          <a:xfrm>
            <a:off x="464425" y="1011750"/>
            <a:ext cx="6528900" cy="3761700"/>
          </a:xfrm>
          <a:prstGeom prst="rect">
            <a:avLst/>
          </a:prstGeom>
          <a:solidFill>
            <a:srgbClr val="C5C5C5">
              <a:alpha val="392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6" name="Google Shape;66;p14" title="Screenshot 2026-06-12 at 12.41.53.png"/>
          <p:cNvPicPr preferRelativeResize="0"/>
          <p:nvPr/>
        </p:nvPicPr>
        <p:blipFill rotWithShape="1">
          <a:blip r:embed="rId3">
            <a:alphaModFix/>
          </a:blip>
          <a:srcRect b="39268" l="39962" r="48572" t="41151"/>
          <a:stretch/>
        </p:blipFill>
        <p:spPr>
          <a:xfrm>
            <a:off x="3036525" y="2571750"/>
            <a:ext cx="784200" cy="771900"/>
          </a:xfrm>
          <a:prstGeom prst="ellipse">
            <a:avLst/>
          </a:prstGeom>
          <a:noFill/>
          <a:ln cap="flat" cmpd="sng" w="19050">
            <a:solidFill>
              <a:srgbClr val="A40C34"/>
            </a:solidFill>
            <a:prstDash val="solid"/>
            <a:round/>
            <a:headEnd len="sm" w="sm" type="none"/>
            <a:tailEnd len="sm" w="sm" type="none"/>
          </a:ln>
        </p:spPr>
      </p:pic>
      <p:pic>
        <p:nvPicPr>
          <p:cNvPr descr="1st image of 685 Rockaway Pkwy" id="67" name="Google Shape;67;p14"/>
          <p:cNvPicPr preferRelativeResize="0"/>
          <p:nvPr/>
        </p:nvPicPr>
        <p:blipFill>
          <a:blip r:embed="rId4">
            <a:alphaModFix/>
          </a:blip>
          <a:stretch>
            <a:fillRect/>
          </a:stretch>
        </p:blipFill>
        <p:spPr>
          <a:xfrm>
            <a:off x="6993325" y="1017762"/>
            <a:ext cx="1716242" cy="1287178"/>
          </a:xfrm>
          <a:prstGeom prst="rect">
            <a:avLst/>
          </a:prstGeom>
          <a:noFill/>
          <a:ln>
            <a:noFill/>
          </a:ln>
        </p:spPr>
      </p:pic>
      <p:pic>
        <p:nvPicPr>
          <p:cNvPr descr="1st image of 1154 E 100th Street" id="68" name="Google Shape;68;p14"/>
          <p:cNvPicPr preferRelativeResize="0"/>
          <p:nvPr/>
        </p:nvPicPr>
        <p:blipFill>
          <a:blip r:embed="rId5">
            <a:alphaModFix/>
          </a:blip>
          <a:stretch>
            <a:fillRect/>
          </a:stretch>
        </p:blipFill>
        <p:spPr>
          <a:xfrm>
            <a:off x="6993325" y="2304942"/>
            <a:ext cx="1716242" cy="1287164"/>
          </a:xfrm>
          <a:prstGeom prst="rect">
            <a:avLst/>
          </a:prstGeom>
          <a:noFill/>
          <a:ln>
            <a:noFill/>
          </a:ln>
        </p:spPr>
      </p:pic>
      <p:pic>
        <p:nvPicPr>
          <p:cNvPr descr="1st image of 1331 E 86th St" id="69" name="Google Shape;69;p14"/>
          <p:cNvPicPr preferRelativeResize="0"/>
          <p:nvPr/>
        </p:nvPicPr>
        <p:blipFill>
          <a:blip r:embed="rId6">
            <a:alphaModFix/>
          </a:blip>
          <a:stretch>
            <a:fillRect/>
          </a:stretch>
        </p:blipFill>
        <p:spPr>
          <a:xfrm>
            <a:off x="6993325" y="3560017"/>
            <a:ext cx="1716243" cy="121944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500">
                <a:solidFill>
                  <a:schemeClr val="dk2"/>
                </a:solidFill>
              </a:rPr>
              <a:t>Canarsie is a small but </a:t>
            </a:r>
            <a:r>
              <a:rPr lang="en" sz="2500">
                <a:solidFill>
                  <a:schemeClr val="dk2"/>
                </a:solidFill>
              </a:rPr>
              <a:t>resilient </a:t>
            </a:r>
            <a:r>
              <a:rPr lang="en" sz="2500">
                <a:solidFill>
                  <a:schemeClr val="dk2"/>
                </a:solidFill>
              </a:rPr>
              <a:t>residential </a:t>
            </a:r>
            <a:r>
              <a:rPr lang="en" sz="2500">
                <a:solidFill>
                  <a:schemeClr val="dk2"/>
                </a:solidFill>
              </a:rPr>
              <a:t>neighborhood</a:t>
            </a:r>
            <a:endParaRPr sz="2500"/>
          </a:p>
        </p:txBody>
      </p:sp>
      <p:sp>
        <p:nvSpPr>
          <p:cNvPr id="75" name="Google Shape;75;p15"/>
          <p:cNvSpPr/>
          <p:nvPr/>
        </p:nvSpPr>
        <p:spPr>
          <a:xfrm>
            <a:off x="0" y="0"/>
            <a:ext cx="9144000" cy="2871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6" name="Google Shape;76;p15"/>
          <p:cNvCxnSpPr/>
          <p:nvPr/>
        </p:nvCxnSpPr>
        <p:spPr>
          <a:xfrm>
            <a:off x="458600" y="976025"/>
            <a:ext cx="8255100" cy="0"/>
          </a:xfrm>
          <a:prstGeom prst="straightConnector1">
            <a:avLst/>
          </a:prstGeom>
          <a:noFill/>
          <a:ln cap="flat" cmpd="sng" w="19050">
            <a:solidFill>
              <a:schemeClr val="dk1"/>
            </a:solidFill>
            <a:prstDash val="solid"/>
            <a:round/>
            <a:headEnd len="med" w="med" type="none"/>
            <a:tailEnd len="med" w="med" type="none"/>
          </a:ln>
        </p:spPr>
      </p:cxnSp>
      <p:sp>
        <p:nvSpPr>
          <p:cNvPr id="77" name="Google Shape;77;p15"/>
          <p:cNvSpPr/>
          <p:nvPr/>
        </p:nvSpPr>
        <p:spPr>
          <a:xfrm>
            <a:off x="0" y="5084300"/>
            <a:ext cx="9144000" cy="570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8" name="Google Shape;78;p15"/>
          <p:cNvPicPr preferRelativeResize="0"/>
          <p:nvPr/>
        </p:nvPicPr>
        <p:blipFill>
          <a:blip r:embed="rId3">
            <a:alphaModFix/>
          </a:blip>
          <a:stretch>
            <a:fillRect/>
          </a:stretch>
        </p:blipFill>
        <p:spPr>
          <a:xfrm>
            <a:off x="311700" y="2016524"/>
            <a:ext cx="2743200" cy="2743200"/>
          </a:xfrm>
          <a:prstGeom prst="rect">
            <a:avLst/>
          </a:prstGeom>
          <a:noFill/>
          <a:ln>
            <a:noFill/>
          </a:ln>
        </p:spPr>
      </p:pic>
      <p:pic>
        <p:nvPicPr>
          <p:cNvPr id="79" name="Google Shape;79;p15"/>
          <p:cNvPicPr preferRelativeResize="0"/>
          <p:nvPr/>
        </p:nvPicPr>
        <p:blipFill>
          <a:blip r:embed="rId4">
            <a:alphaModFix/>
          </a:blip>
          <a:stretch>
            <a:fillRect/>
          </a:stretch>
        </p:blipFill>
        <p:spPr>
          <a:xfrm>
            <a:off x="3234932" y="2016524"/>
            <a:ext cx="2743200" cy="2743200"/>
          </a:xfrm>
          <a:prstGeom prst="rect">
            <a:avLst/>
          </a:prstGeom>
          <a:noFill/>
          <a:ln>
            <a:noFill/>
          </a:ln>
        </p:spPr>
      </p:pic>
      <p:pic>
        <p:nvPicPr>
          <p:cNvPr id="80" name="Google Shape;80;p15"/>
          <p:cNvPicPr preferRelativeResize="0"/>
          <p:nvPr/>
        </p:nvPicPr>
        <p:blipFill>
          <a:blip r:embed="rId5">
            <a:alphaModFix/>
          </a:blip>
          <a:stretch>
            <a:fillRect/>
          </a:stretch>
        </p:blipFill>
        <p:spPr>
          <a:xfrm>
            <a:off x="6158163" y="2016524"/>
            <a:ext cx="2743200" cy="2743200"/>
          </a:xfrm>
          <a:prstGeom prst="rect">
            <a:avLst/>
          </a:prstGeom>
          <a:noFill/>
          <a:ln>
            <a:noFill/>
          </a:ln>
        </p:spPr>
      </p:pic>
      <p:sp>
        <p:nvSpPr>
          <p:cNvPr id="81" name="Google Shape;81;p15"/>
          <p:cNvSpPr txBox="1"/>
          <p:nvPr>
            <p:ph idx="1" type="body"/>
          </p:nvPr>
        </p:nvSpPr>
        <p:spPr>
          <a:xfrm>
            <a:off x="311700" y="1096688"/>
            <a:ext cx="8520600" cy="679500"/>
          </a:xfrm>
          <a:prstGeom prst="rect">
            <a:avLst/>
          </a:prstGeom>
        </p:spPr>
        <p:txBody>
          <a:bodyPr anchorCtr="0" anchor="t" bIns="91425" lIns="285750" spcFirstLastPara="1" rIns="91425" wrap="square" tIns="91425">
            <a:noAutofit/>
          </a:bodyPr>
          <a:lstStyle/>
          <a:p>
            <a:pPr indent="-177800" lvl="0" marL="0" rtl="0" algn="l">
              <a:spcBef>
                <a:spcPts val="0"/>
              </a:spcBef>
              <a:spcAft>
                <a:spcPts val="0"/>
              </a:spcAft>
              <a:buSzPts val="1000"/>
              <a:buChar char="●"/>
            </a:pPr>
            <a:r>
              <a:rPr lang="en" sz="1000"/>
              <a:t>While home sales across NYC and Brooklyn nearly dropped by half after the 2021 peak, Canarsie’s numbers stayed relatively steady.</a:t>
            </a:r>
            <a:endParaRPr sz="1000"/>
          </a:p>
          <a:p>
            <a:pPr indent="-177800" lvl="0" marL="0" rtl="0" algn="l">
              <a:spcBef>
                <a:spcPts val="0"/>
              </a:spcBef>
              <a:spcAft>
                <a:spcPts val="0"/>
              </a:spcAft>
              <a:buSzPts val="1000"/>
              <a:buChar char="●"/>
            </a:pPr>
            <a:r>
              <a:rPr lang="en" sz="1000"/>
              <a:t>Canarsie is accounts for a small share of Brooklyn's total sales volume, its market footprint grew steadily from ~1% in 2021 to over 1.4% in 2025.</a:t>
            </a:r>
            <a:endParaRPr sz="1000"/>
          </a:p>
          <a:p>
            <a:pPr indent="-177800" lvl="0" marL="0" rtl="0" algn="l">
              <a:spcBef>
                <a:spcPts val="0"/>
              </a:spcBef>
              <a:spcAft>
                <a:spcPts val="0"/>
              </a:spcAft>
              <a:buSzPts val="1000"/>
              <a:buChar char="●"/>
            </a:pPr>
            <a:r>
              <a:rPr lang="en" sz="1000"/>
              <a:t>Nearly 92.7% of all market activity driven by home sales. Commercial represents only 5.06%.</a:t>
            </a:r>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p:nvPr/>
        </p:nvSpPr>
        <p:spPr>
          <a:xfrm>
            <a:off x="3516250" y="3578550"/>
            <a:ext cx="2271000" cy="1404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6"/>
          <p:cNvSpPr txBox="1"/>
          <p:nvPr>
            <p:ph idx="1" type="body"/>
          </p:nvPr>
        </p:nvSpPr>
        <p:spPr>
          <a:xfrm>
            <a:off x="3844300" y="3595200"/>
            <a:ext cx="1920000" cy="1359600"/>
          </a:xfrm>
          <a:prstGeom prst="rect">
            <a:avLst/>
          </a:prstGeom>
        </p:spPr>
        <p:txBody>
          <a:bodyPr anchorCtr="0" anchor="t" bIns="91425" lIns="285750" spcFirstLastPara="1" rIns="91425" wrap="square" tIns="91425">
            <a:noAutofit/>
          </a:bodyPr>
          <a:lstStyle/>
          <a:p>
            <a:pPr indent="0" lvl="0" marL="0" rtl="0" algn="l">
              <a:spcBef>
                <a:spcPts val="0"/>
              </a:spcBef>
              <a:spcAft>
                <a:spcPts val="0"/>
              </a:spcAft>
              <a:buNone/>
            </a:pPr>
            <a:r>
              <a:rPr lang="en" sz="1000"/>
              <a:t>While sales price and gross square feet are key metrics, their weak correlation (0.326) indicates that other structural and neighborhood factors play an equally vital role in determining value.</a:t>
            </a:r>
            <a:endParaRPr sz="1000"/>
          </a:p>
        </p:txBody>
      </p:sp>
      <p:sp>
        <p:nvSpPr>
          <p:cNvPr id="88" name="Google Shape;88;p16"/>
          <p:cNvSpPr txBox="1"/>
          <p:nvPr>
            <p:ph idx="1" type="body"/>
          </p:nvPr>
        </p:nvSpPr>
        <p:spPr>
          <a:xfrm>
            <a:off x="311700" y="1096688"/>
            <a:ext cx="8520600" cy="679500"/>
          </a:xfrm>
          <a:prstGeom prst="rect">
            <a:avLst/>
          </a:prstGeom>
        </p:spPr>
        <p:txBody>
          <a:bodyPr anchorCtr="0" anchor="t" bIns="91425" lIns="285750" spcFirstLastPara="1" rIns="91425" wrap="square" tIns="91425">
            <a:noAutofit/>
          </a:bodyPr>
          <a:lstStyle/>
          <a:p>
            <a:pPr indent="-177800" lvl="0" marL="0" rtl="0" algn="l">
              <a:spcBef>
                <a:spcPts val="0"/>
              </a:spcBef>
              <a:spcAft>
                <a:spcPts val="0"/>
              </a:spcAft>
              <a:buSzPts val="1000"/>
              <a:buChar char="●"/>
            </a:pPr>
            <a:r>
              <a:rPr lang="en" sz="1000"/>
              <a:t>Canarsie’s</a:t>
            </a:r>
            <a:r>
              <a:rPr lang="en" sz="1000"/>
              <a:t> median price per square foot remains significantly lower than </a:t>
            </a:r>
            <a:r>
              <a:rPr lang="en" sz="1000"/>
              <a:t>Brooklyn </a:t>
            </a:r>
            <a:r>
              <a:rPr lang="en" sz="1000"/>
              <a:t>and NYC averages.</a:t>
            </a:r>
            <a:r>
              <a:rPr lang="en" sz="1000"/>
              <a:t> </a:t>
            </a:r>
            <a:endParaRPr sz="1000"/>
          </a:p>
          <a:p>
            <a:pPr indent="-177800" lvl="0" marL="0" rtl="0" algn="l">
              <a:spcBef>
                <a:spcPts val="0"/>
              </a:spcBef>
              <a:spcAft>
                <a:spcPts val="0"/>
              </a:spcAft>
              <a:buSzPts val="1000"/>
              <a:buChar char="●"/>
            </a:pPr>
            <a:r>
              <a:rPr lang="en" sz="1000"/>
              <a:t>The neighborhood is a stable, middle-market area with an average price of $279.487 per square foot.</a:t>
            </a:r>
            <a:endParaRPr sz="1000"/>
          </a:p>
          <a:p>
            <a:pPr indent="-177800" lvl="0" marL="0" rtl="0" algn="l">
              <a:spcBef>
                <a:spcPts val="0"/>
              </a:spcBef>
              <a:spcAft>
                <a:spcPts val="0"/>
              </a:spcAft>
              <a:buSzPts val="1000"/>
              <a:buChar char="●"/>
            </a:pPr>
            <a:r>
              <a:rPr lang="en" sz="1000"/>
              <a:t>The average home price is $535,838 with 50% of homes selling in the narrow range from</a:t>
            </a:r>
            <a:r>
              <a:rPr lang="en" sz="1000"/>
              <a:t> (1st Qu.)</a:t>
            </a:r>
            <a:r>
              <a:rPr lang="en" sz="1000"/>
              <a:t> $380,188 to (3rd Qu.) $675,000.</a:t>
            </a:r>
            <a:endParaRPr sz="1000"/>
          </a:p>
        </p:txBody>
      </p:sp>
      <p:sp>
        <p:nvSpPr>
          <p:cNvPr id="89" name="Google Shape;89;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500">
                <a:solidFill>
                  <a:schemeClr val="dk2"/>
                </a:solidFill>
              </a:rPr>
              <a:t>Price is a competitive adv</a:t>
            </a:r>
            <a:r>
              <a:rPr lang="en" sz="2500">
                <a:solidFill>
                  <a:schemeClr val="dk2"/>
                </a:solidFill>
              </a:rPr>
              <a:t>antage of Canarsie</a:t>
            </a:r>
            <a:endParaRPr sz="2500">
              <a:solidFill>
                <a:schemeClr val="dk2"/>
              </a:solidFill>
            </a:endParaRPr>
          </a:p>
        </p:txBody>
      </p:sp>
      <p:sp>
        <p:nvSpPr>
          <p:cNvPr id="90" name="Google Shape;90;p16"/>
          <p:cNvSpPr/>
          <p:nvPr/>
        </p:nvSpPr>
        <p:spPr>
          <a:xfrm>
            <a:off x="0" y="0"/>
            <a:ext cx="9144000" cy="2871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1" name="Google Shape;91;p16"/>
          <p:cNvCxnSpPr/>
          <p:nvPr/>
        </p:nvCxnSpPr>
        <p:spPr>
          <a:xfrm>
            <a:off x="458600" y="976025"/>
            <a:ext cx="8255100" cy="0"/>
          </a:xfrm>
          <a:prstGeom prst="straightConnector1">
            <a:avLst/>
          </a:prstGeom>
          <a:noFill/>
          <a:ln cap="flat" cmpd="sng" w="19050">
            <a:solidFill>
              <a:schemeClr val="dk1"/>
            </a:solidFill>
            <a:prstDash val="solid"/>
            <a:round/>
            <a:headEnd len="med" w="med" type="none"/>
            <a:tailEnd len="med" w="med" type="none"/>
          </a:ln>
        </p:spPr>
      </p:cxnSp>
      <p:sp>
        <p:nvSpPr>
          <p:cNvPr id="92" name="Google Shape;92;p16"/>
          <p:cNvSpPr/>
          <p:nvPr/>
        </p:nvSpPr>
        <p:spPr>
          <a:xfrm>
            <a:off x="0" y="5084300"/>
            <a:ext cx="9144000" cy="570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3" name="Google Shape;93;p16"/>
          <p:cNvPicPr preferRelativeResize="0"/>
          <p:nvPr/>
        </p:nvPicPr>
        <p:blipFill>
          <a:blip r:embed="rId3">
            <a:alphaModFix/>
          </a:blip>
          <a:stretch>
            <a:fillRect/>
          </a:stretch>
        </p:blipFill>
        <p:spPr>
          <a:xfrm>
            <a:off x="564000" y="1965006"/>
            <a:ext cx="2743200" cy="2743200"/>
          </a:xfrm>
          <a:prstGeom prst="rect">
            <a:avLst/>
          </a:prstGeom>
          <a:noFill/>
          <a:ln>
            <a:noFill/>
          </a:ln>
        </p:spPr>
      </p:pic>
      <p:pic>
        <p:nvPicPr>
          <p:cNvPr id="94" name="Google Shape;94;p16"/>
          <p:cNvPicPr preferRelativeResize="0"/>
          <p:nvPr/>
        </p:nvPicPr>
        <p:blipFill rotWithShape="1">
          <a:blip r:embed="rId4">
            <a:alphaModFix/>
          </a:blip>
          <a:srcRect b="0" l="0" r="0" t="0"/>
          <a:stretch/>
        </p:blipFill>
        <p:spPr>
          <a:xfrm>
            <a:off x="5970500" y="1965000"/>
            <a:ext cx="2743200" cy="2743200"/>
          </a:xfrm>
          <a:prstGeom prst="rect">
            <a:avLst/>
          </a:prstGeom>
          <a:noFill/>
          <a:ln>
            <a:noFill/>
          </a:ln>
        </p:spPr>
      </p:pic>
      <p:graphicFrame>
        <p:nvGraphicFramePr>
          <p:cNvPr id="95" name="Google Shape;95;p16"/>
          <p:cNvGraphicFramePr/>
          <p:nvPr/>
        </p:nvGraphicFramePr>
        <p:xfrm>
          <a:off x="3513450" y="1923688"/>
          <a:ext cx="3000000" cy="3000000"/>
        </p:xfrm>
        <a:graphic>
          <a:graphicData uri="http://schemas.openxmlformats.org/drawingml/2006/table">
            <a:tbl>
              <a:tblPr>
                <a:noFill/>
                <a:tableStyleId>{3350A7B4-DCC7-41F6-B9C9-3B6CB2A2DDE9}</a:tableStyleId>
              </a:tblPr>
              <a:tblGrid>
                <a:gridCol w="1125400"/>
                <a:gridCol w="1125400"/>
              </a:tblGrid>
              <a:tr h="381000">
                <a:tc>
                  <a:txBody>
                    <a:bodyPr/>
                    <a:lstStyle/>
                    <a:p>
                      <a:pPr indent="0" lvl="0" marL="0" rtl="0" algn="l">
                        <a:spcBef>
                          <a:spcPts val="0"/>
                        </a:spcBef>
                        <a:spcAft>
                          <a:spcPts val="0"/>
                        </a:spcAft>
                        <a:buNone/>
                      </a:pPr>
                      <a:r>
                        <a:rPr lang="en" sz="1000">
                          <a:solidFill>
                            <a:schemeClr val="dk2"/>
                          </a:solidFill>
                        </a:rPr>
                        <a:t>Q1 </a:t>
                      </a:r>
                      <a:endParaRPr sz="1000">
                        <a:solidFill>
                          <a:schemeClr val="dk2"/>
                        </a:solidFill>
                      </a:endParaRPr>
                    </a:p>
                  </a:txBody>
                  <a:tcPr marT="91425" marB="91425" marR="91425" marL="91425"/>
                </a:tc>
                <a:tc>
                  <a:txBody>
                    <a:bodyPr/>
                    <a:lstStyle/>
                    <a:p>
                      <a:pPr indent="0" lvl="0" marL="0" rtl="0" algn="l">
                        <a:spcBef>
                          <a:spcPts val="0"/>
                        </a:spcBef>
                        <a:spcAft>
                          <a:spcPts val="0"/>
                        </a:spcAft>
                        <a:buNone/>
                      </a:pPr>
                      <a:r>
                        <a:rPr lang="en" sz="1000">
                          <a:solidFill>
                            <a:schemeClr val="dk2"/>
                          </a:solidFill>
                        </a:rPr>
                        <a:t>$380,188</a:t>
                      </a:r>
                      <a:endParaRPr sz="1000">
                        <a:solidFill>
                          <a:schemeClr val="dk2"/>
                        </a:solidFill>
                      </a:endParaRPr>
                    </a:p>
                  </a:txBody>
                  <a:tcPr marT="91425" marB="91425" marR="91425" marL="91425"/>
                </a:tc>
              </a:tr>
              <a:tr h="381000">
                <a:tc>
                  <a:txBody>
                    <a:bodyPr/>
                    <a:lstStyle/>
                    <a:p>
                      <a:pPr indent="0" lvl="0" marL="0" rtl="0" algn="l">
                        <a:spcBef>
                          <a:spcPts val="0"/>
                        </a:spcBef>
                        <a:spcAft>
                          <a:spcPts val="0"/>
                        </a:spcAft>
                        <a:buNone/>
                      </a:pPr>
                      <a:r>
                        <a:rPr lang="en" sz="1000">
                          <a:solidFill>
                            <a:schemeClr val="dk2"/>
                          </a:solidFill>
                        </a:rPr>
                        <a:t>Median</a:t>
                      </a:r>
                      <a:endParaRPr sz="1000">
                        <a:solidFill>
                          <a:schemeClr val="dk2"/>
                        </a:solidFill>
                      </a:endParaRPr>
                    </a:p>
                  </a:txBody>
                  <a:tcPr marT="91425" marB="91425" marR="91425" marL="91425"/>
                </a:tc>
                <a:tc>
                  <a:txBody>
                    <a:bodyPr/>
                    <a:lstStyle/>
                    <a:p>
                      <a:pPr indent="0" lvl="0" marL="0" rtl="0" algn="l">
                        <a:spcBef>
                          <a:spcPts val="0"/>
                        </a:spcBef>
                        <a:spcAft>
                          <a:spcPts val="0"/>
                        </a:spcAft>
                        <a:buNone/>
                      </a:pPr>
                      <a:r>
                        <a:rPr lang="en" sz="1000">
                          <a:solidFill>
                            <a:schemeClr val="dk2"/>
                          </a:solidFill>
                        </a:rPr>
                        <a:t>$525,000</a:t>
                      </a:r>
                      <a:endParaRPr sz="1000">
                        <a:solidFill>
                          <a:schemeClr val="dk2"/>
                        </a:solidFill>
                      </a:endParaRPr>
                    </a:p>
                  </a:txBody>
                  <a:tcPr marT="91425" marB="91425" marR="91425" marL="91425"/>
                </a:tc>
              </a:tr>
              <a:tr h="381000">
                <a:tc>
                  <a:txBody>
                    <a:bodyPr/>
                    <a:lstStyle/>
                    <a:p>
                      <a:pPr indent="0" lvl="0" marL="0" rtl="0" algn="l">
                        <a:spcBef>
                          <a:spcPts val="0"/>
                        </a:spcBef>
                        <a:spcAft>
                          <a:spcPts val="0"/>
                        </a:spcAft>
                        <a:buNone/>
                      </a:pPr>
                      <a:r>
                        <a:rPr lang="en" sz="1000">
                          <a:solidFill>
                            <a:schemeClr val="dk2"/>
                          </a:solidFill>
                        </a:rPr>
                        <a:t>Mean</a:t>
                      </a:r>
                      <a:endParaRPr sz="1000">
                        <a:solidFill>
                          <a:schemeClr val="dk2"/>
                        </a:solidFill>
                      </a:endParaRPr>
                    </a:p>
                  </a:txBody>
                  <a:tcPr marT="91425" marB="91425" marR="91425" marL="91425"/>
                </a:tc>
                <a:tc>
                  <a:txBody>
                    <a:bodyPr/>
                    <a:lstStyle/>
                    <a:p>
                      <a:pPr indent="0" lvl="0" marL="0" rtl="0" algn="l">
                        <a:spcBef>
                          <a:spcPts val="0"/>
                        </a:spcBef>
                        <a:spcAft>
                          <a:spcPts val="0"/>
                        </a:spcAft>
                        <a:buNone/>
                      </a:pPr>
                      <a:r>
                        <a:rPr lang="en" sz="1000">
                          <a:solidFill>
                            <a:schemeClr val="dk2"/>
                          </a:solidFill>
                        </a:rPr>
                        <a:t>$535,838</a:t>
                      </a:r>
                      <a:endParaRPr sz="1000">
                        <a:solidFill>
                          <a:schemeClr val="dk2"/>
                        </a:solidFill>
                      </a:endParaRPr>
                    </a:p>
                  </a:txBody>
                  <a:tcPr marT="91425" marB="91425" marR="91425" marL="91425"/>
                </a:tc>
              </a:tr>
              <a:tr h="381000">
                <a:tc>
                  <a:txBody>
                    <a:bodyPr/>
                    <a:lstStyle/>
                    <a:p>
                      <a:pPr indent="0" lvl="0" marL="0" rtl="0" algn="l">
                        <a:spcBef>
                          <a:spcPts val="0"/>
                        </a:spcBef>
                        <a:spcAft>
                          <a:spcPts val="0"/>
                        </a:spcAft>
                        <a:buNone/>
                      </a:pPr>
                      <a:r>
                        <a:rPr lang="en" sz="1000">
                          <a:solidFill>
                            <a:schemeClr val="dk2"/>
                          </a:solidFill>
                        </a:rPr>
                        <a:t>Q3</a:t>
                      </a:r>
                      <a:endParaRPr sz="1000">
                        <a:solidFill>
                          <a:schemeClr val="dk2"/>
                        </a:solidFill>
                      </a:endParaRPr>
                    </a:p>
                  </a:txBody>
                  <a:tcPr marT="91425" marB="91425" marR="91425" marL="91425"/>
                </a:tc>
                <a:tc>
                  <a:txBody>
                    <a:bodyPr/>
                    <a:lstStyle/>
                    <a:p>
                      <a:pPr indent="0" lvl="0" marL="0" rtl="0" algn="l">
                        <a:spcBef>
                          <a:spcPts val="0"/>
                        </a:spcBef>
                        <a:spcAft>
                          <a:spcPts val="0"/>
                        </a:spcAft>
                        <a:buNone/>
                      </a:pPr>
                      <a:r>
                        <a:rPr lang="en" sz="1000">
                          <a:solidFill>
                            <a:schemeClr val="dk2"/>
                          </a:solidFill>
                        </a:rPr>
                        <a:t>$675,000</a:t>
                      </a:r>
                      <a:endParaRPr sz="1000">
                        <a:solidFill>
                          <a:schemeClr val="dk2"/>
                        </a:solidFill>
                      </a:endParaRPr>
                    </a:p>
                  </a:txBody>
                  <a:tcPr marT="91425" marB="91425" marR="91425" marL="91425"/>
                </a:tc>
              </a:tr>
            </a:tbl>
          </a:graphicData>
        </a:graphic>
      </p:graphicFrame>
      <p:sp>
        <p:nvSpPr>
          <p:cNvPr id="96" name="Google Shape;96;p16"/>
          <p:cNvSpPr txBox="1"/>
          <p:nvPr>
            <p:ph idx="1" type="body"/>
          </p:nvPr>
        </p:nvSpPr>
        <p:spPr>
          <a:xfrm>
            <a:off x="3526300" y="3595200"/>
            <a:ext cx="318000" cy="679500"/>
          </a:xfrm>
          <a:prstGeom prst="rect">
            <a:avLst/>
          </a:prstGeom>
        </p:spPr>
        <p:txBody>
          <a:bodyPr anchorCtr="0" anchor="t" bIns="91425" lIns="285750" spcFirstLastPara="1" rIns="91425" wrap="square" tIns="91425">
            <a:noAutofit/>
          </a:bodyPr>
          <a:lstStyle/>
          <a:p>
            <a:pPr indent="0" lvl="0" marL="0" rtl="0" algn="l">
              <a:spcBef>
                <a:spcPts val="0"/>
              </a:spcBef>
              <a:spcAft>
                <a:spcPts val="0"/>
              </a:spcAft>
              <a:buNone/>
            </a:pPr>
            <a:r>
              <a:rPr lang="en" sz="2500"/>
              <a:t>!</a:t>
            </a:r>
            <a:endParaRPr sz="2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txBox="1"/>
          <p:nvPr>
            <p:ph idx="1" type="body"/>
          </p:nvPr>
        </p:nvSpPr>
        <p:spPr>
          <a:xfrm>
            <a:off x="311700" y="1096700"/>
            <a:ext cx="8684100" cy="679500"/>
          </a:xfrm>
          <a:prstGeom prst="rect">
            <a:avLst/>
          </a:prstGeom>
        </p:spPr>
        <p:txBody>
          <a:bodyPr anchorCtr="0" anchor="t" bIns="91425" lIns="285750" spcFirstLastPara="1" rIns="91425" wrap="square" tIns="91425">
            <a:noAutofit/>
          </a:bodyPr>
          <a:lstStyle/>
          <a:p>
            <a:pPr indent="-228600" lvl="0" marL="0" rtl="0" algn="l">
              <a:spcBef>
                <a:spcPts val="0"/>
              </a:spcBef>
              <a:spcAft>
                <a:spcPts val="0"/>
              </a:spcAft>
              <a:buNone/>
            </a:pPr>
            <a:r>
              <a:rPr b="1" lang="en" sz="1000">
                <a:highlight>
                  <a:srgbClr val="FBAEA7"/>
                </a:highlight>
              </a:rPr>
              <a:t>1.Budget Basics</a:t>
            </a:r>
            <a:r>
              <a:rPr lang="en" sz="1000"/>
              <a:t>: Represents reliable, multi-family residential areas with prices slightly higher Mid-Market and consistent sales volume.</a:t>
            </a:r>
            <a:endParaRPr sz="1000"/>
          </a:p>
          <a:p>
            <a:pPr indent="-228600" lvl="0" marL="0" rtl="0" algn="l">
              <a:spcBef>
                <a:spcPts val="0"/>
              </a:spcBef>
              <a:spcAft>
                <a:spcPts val="0"/>
              </a:spcAft>
              <a:buNone/>
            </a:pPr>
            <a:r>
              <a:rPr b="1" lang="en" sz="1000">
                <a:highlight>
                  <a:srgbClr val="63D784"/>
                </a:highlight>
              </a:rPr>
              <a:t>2.Mid-Market</a:t>
            </a:r>
            <a:r>
              <a:rPr b="1" lang="en" sz="1000"/>
              <a:t>:</a:t>
            </a:r>
            <a:r>
              <a:rPr lang="en" sz="1000"/>
              <a:t> Cluster includes Canarsie, is the most liquid part of the market, featuring the highest transaction counts.</a:t>
            </a:r>
            <a:endParaRPr sz="1000"/>
          </a:p>
          <a:p>
            <a:pPr indent="-228600" lvl="0" marL="0" rtl="0" algn="l">
              <a:spcBef>
                <a:spcPts val="0"/>
              </a:spcBef>
              <a:spcAft>
                <a:spcPts val="0"/>
              </a:spcAft>
              <a:buNone/>
            </a:pPr>
            <a:r>
              <a:rPr b="1" lang="en" sz="1000">
                <a:highlight>
                  <a:srgbClr val="9FC2FF"/>
                </a:highlight>
              </a:rPr>
              <a:t>3.Luxury</a:t>
            </a:r>
            <a:r>
              <a:rPr lang="en" sz="1000"/>
              <a:t>: Exclusive, low-volume neighborhoods where the price per square foot is nearly four times higher than the other clusters ($1,190 vs ~$340).</a:t>
            </a:r>
            <a:endParaRPr sz="1000"/>
          </a:p>
        </p:txBody>
      </p:sp>
      <p:sp>
        <p:nvSpPr>
          <p:cNvPr id="102" name="Google Shape;102;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500">
                <a:solidFill>
                  <a:schemeClr val="dk2"/>
                </a:solidFill>
              </a:rPr>
              <a:t>Canarsie belongs to Mid-Market </a:t>
            </a:r>
            <a:r>
              <a:rPr lang="en" sz="2500">
                <a:solidFill>
                  <a:schemeClr val="dk2"/>
                </a:solidFill>
              </a:rPr>
              <a:t>cluster of NYC</a:t>
            </a:r>
            <a:endParaRPr sz="2500">
              <a:solidFill>
                <a:schemeClr val="dk2"/>
              </a:solidFill>
            </a:endParaRPr>
          </a:p>
        </p:txBody>
      </p:sp>
      <p:sp>
        <p:nvSpPr>
          <p:cNvPr id="103" name="Google Shape;103;p17"/>
          <p:cNvSpPr/>
          <p:nvPr/>
        </p:nvSpPr>
        <p:spPr>
          <a:xfrm>
            <a:off x="0" y="0"/>
            <a:ext cx="9144000" cy="2871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4" name="Google Shape;104;p17"/>
          <p:cNvCxnSpPr/>
          <p:nvPr/>
        </p:nvCxnSpPr>
        <p:spPr>
          <a:xfrm>
            <a:off x="458600" y="976025"/>
            <a:ext cx="8255100" cy="0"/>
          </a:xfrm>
          <a:prstGeom prst="straightConnector1">
            <a:avLst/>
          </a:prstGeom>
          <a:noFill/>
          <a:ln cap="flat" cmpd="sng" w="19050">
            <a:solidFill>
              <a:schemeClr val="dk1"/>
            </a:solidFill>
            <a:prstDash val="solid"/>
            <a:round/>
            <a:headEnd len="med" w="med" type="none"/>
            <a:tailEnd len="med" w="med" type="none"/>
          </a:ln>
        </p:spPr>
      </p:cxnSp>
      <p:sp>
        <p:nvSpPr>
          <p:cNvPr id="105" name="Google Shape;105;p17"/>
          <p:cNvSpPr/>
          <p:nvPr/>
        </p:nvSpPr>
        <p:spPr>
          <a:xfrm>
            <a:off x="0" y="5084300"/>
            <a:ext cx="9144000" cy="570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6" name="Google Shape;106;p17"/>
          <p:cNvPicPr preferRelativeResize="0"/>
          <p:nvPr/>
        </p:nvPicPr>
        <p:blipFill>
          <a:blip r:embed="rId3">
            <a:alphaModFix/>
          </a:blip>
          <a:stretch>
            <a:fillRect/>
          </a:stretch>
        </p:blipFill>
        <p:spPr>
          <a:xfrm>
            <a:off x="311700" y="1965000"/>
            <a:ext cx="2743200" cy="2743200"/>
          </a:xfrm>
          <a:prstGeom prst="rect">
            <a:avLst/>
          </a:prstGeom>
          <a:noFill/>
          <a:ln>
            <a:noFill/>
          </a:ln>
        </p:spPr>
      </p:pic>
      <p:graphicFrame>
        <p:nvGraphicFramePr>
          <p:cNvPr id="107" name="Google Shape;107;p17"/>
          <p:cNvGraphicFramePr/>
          <p:nvPr/>
        </p:nvGraphicFramePr>
        <p:xfrm>
          <a:off x="3587800" y="2574600"/>
          <a:ext cx="3000000" cy="3000000"/>
        </p:xfrm>
        <a:graphic>
          <a:graphicData uri="http://schemas.openxmlformats.org/drawingml/2006/table">
            <a:tbl>
              <a:tblPr>
                <a:noFill/>
                <a:tableStyleId>{3350A7B4-DCC7-41F6-B9C9-3B6CB2A2DDE9}</a:tableStyleId>
              </a:tblPr>
              <a:tblGrid>
                <a:gridCol w="1180025"/>
                <a:gridCol w="1180025"/>
                <a:gridCol w="1180025"/>
                <a:gridCol w="1180025"/>
              </a:tblGrid>
              <a:tr h="381000">
                <a:tc>
                  <a:txBody>
                    <a:bodyPr/>
                    <a:lstStyle/>
                    <a:p>
                      <a:pPr indent="0" lvl="0" marL="0" rtl="0" algn="l">
                        <a:spcBef>
                          <a:spcPts val="0"/>
                        </a:spcBef>
                        <a:spcAft>
                          <a:spcPts val="0"/>
                        </a:spcAft>
                        <a:buNone/>
                      </a:pPr>
                      <a:r>
                        <a:t/>
                      </a:r>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434343"/>
                          </a:solidFill>
                        </a:rPr>
                        <a:t>Average Price</a:t>
                      </a:r>
                      <a:endParaRPr sz="1000">
                        <a:solidFill>
                          <a:srgbClr val="434343"/>
                        </a:solidFill>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434343"/>
                          </a:solidFill>
                        </a:rPr>
                        <a:t>Average Sales Number</a:t>
                      </a:r>
                      <a:endParaRPr sz="1000">
                        <a:solidFill>
                          <a:srgbClr val="434343"/>
                        </a:solidFill>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434343"/>
                          </a:solidFill>
                        </a:rPr>
                        <a:t>Average Price per Sq Ft</a:t>
                      </a:r>
                      <a:endParaRPr sz="1000">
                        <a:solidFill>
                          <a:srgbClr val="434343"/>
                        </a:solidFill>
                      </a:endParaRPr>
                    </a:p>
                  </a:txBody>
                  <a:tcPr marT="19050" marB="19050" marR="91425" marL="9142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000"/>
                        <a:t>1.Budget Basics</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$805,073</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1,004</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$355</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000"/>
                        <a:t>2. Mid-Market</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$643,079</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4,564</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$337</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000"/>
                        <a:t>3.Luxury</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$3,672,112</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439</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$1,190</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ph idx="1" type="body"/>
          </p:nvPr>
        </p:nvSpPr>
        <p:spPr>
          <a:xfrm>
            <a:off x="311700" y="1017725"/>
            <a:ext cx="8684100" cy="813300"/>
          </a:xfrm>
          <a:prstGeom prst="rect">
            <a:avLst/>
          </a:prstGeom>
        </p:spPr>
        <p:txBody>
          <a:bodyPr anchorCtr="0" anchor="t" bIns="91425" lIns="285750" spcFirstLastPara="1" rIns="91425" wrap="square" tIns="91425">
            <a:noAutofit/>
          </a:bodyPr>
          <a:lstStyle/>
          <a:p>
            <a:pPr indent="0" lvl="0" marL="0" rtl="0" algn="l">
              <a:spcBef>
                <a:spcPts val="0"/>
              </a:spcBef>
              <a:spcAft>
                <a:spcPts val="0"/>
              </a:spcAft>
              <a:buNone/>
            </a:pPr>
            <a:r>
              <a:rPr b="1" lang="en" sz="1000">
                <a:highlight>
                  <a:srgbClr val="FBAEA7"/>
                </a:highlight>
              </a:rPr>
              <a:t>1.Standard</a:t>
            </a:r>
            <a:r>
              <a:rPr lang="en" sz="1000"/>
              <a:t>: Representing 48.3% of the neighborhood, these are the typical two-family homes (median 1,764 sq ft).</a:t>
            </a:r>
            <a:endParaRPr sz="1000"/>
          </a:p>
          <a:p>
            <a:pPr indent="0" lvl="0" marL="0" rtl="0" algn="l">
              <a:spcBef>
                <a:spcPts val="0"/>
              </a:spcBef>
              <a:spcAft>
                <a:spcPts val="0"/>
              </a:spcAft>
              <a:buNone/>
            </a:pPr>
            <a:r>
              <a:rPr b="1" lang="en" sz="1000">
                <a:highlight>
                  <a:srgbClr val="63D784"/>
                </a:highlight>
              </a:rPr>
              <a:t>2.Premium</a:t>
            </a:r>
            <a:r>
              <a:rPr b="1" lang="en" sz="1000"/>
              <a:t>:</a:t>
            </a:r>
            <a:r>
              <a:rPr lang="en" sz="1000"/>
              <a:t> Representing 25.9% of the neighborhood. The larger multi-unit properties (median 2,760 sq ft). They have the highest prices $744k.</a:t>
            </a:r>
            <a:endParaRPr sz="1000"/>
          </a:p>
          <a:p>
            <a:pPr indent="0" lvl="0" marL="0" rtl="0" algn="l">
              <a:spcBef>
                <a:spcPts val="0"/>
              </a:spcBef>
              <a:spcAft>
                <a:spcPts val="0"/>
              </a:spcAft>
              <a:buNone/>
            </a:pPr>
            <a:r>
              <a:rPr b="1" lang="en" sz="1000">
                <a:highlight>
                  <a:srgbClr val="9FC2FF"/>
                </a:highlight>
              </a:rPr>
              <a:t>3.Entry</a:t>
            </a:r>
            <a:r>
              <a:rPr lang="en" sz="1000"/>
              <a:t>: Representing 25.8% of the neighborhood. Consisting of single-family starter homes (median 1,201 sq ft), this segment offers the lowest price point ($415k) and is ideal for first-time homebuyers.</a:t>
            </a:r>
            <a:endParaRPr sz="1000"/>
          </a:p>
        </p:txBody>
      </p:sp>
      <p:sp>
        <p:nvSpPr>
          <p:cNvPr id="113" name="Google Shape;113;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500">
                <a:solidFill>
                  <a:schemeClr val="dk2"/>
                </a:solidFill>
              </a:rPr>
              <a:t>Around ½ of all sales in </a:t>
            </a:r>
            <a:r>
              <a:rPr lang="en" sz="2500">
                <a:solidFill>
                  <a:schemeClr val="dk2"/>
                </a:solidFill>
              </a:rPr>
              <a:t>Canarsie</a:t>
            </a:r>
            <a:r>
              <a:rPr lang="en" sz="2500">
                <a:solidFill>
                  <a:schemeClr val="dk2"/>
                </a:solidFill>
              </a:rPr>
              <a:t> are within one segment</a:t>
            </a:r>
            <a:endParaRPr sz="2500">
              <a:solidFill>
                <a:schemeClr val="dk2"/>
              </a:solidFill>
            </a:endParaRPr>
          </a:p>
        </p:txBody>
      </p:sp>
      <p:sp>
        <p:nvSpPr>
          <p:cNvPr id="114" name="Google Shape;114;p18"/>
          <p:cNvSpPr/>
          <p:nvPr/>
        </p:nvSpPr>
        <p:spPr>
          <a:xfrm>
            <a:off x="0" y="0"/>
            <a:ext cx="9144000" cy="2871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5" name="Google Shape;115;p18"/>
          <p:cNvCxnSpPr/>
          <p:nvPr/>
        </p:nvCxnSpPr>
        <p:spPr>
          <a:xfrm>
            <a:off x="458600" y="976025"/>
            <a:ext cx="8255100" cy="0"/>
          </a:xfrm>
          <a:prstGeom prst="straightConnector1">
            <a:avLst/>
          </a:prstGeom>
          <a:noFill/>
          <a:ln cap="flat" cmpd="sng" w="19050">
            <a:solidFill>
              <a:schemeClr val="dk1"/>
            </a:solidFill>
            <a:prstDash val="solid"/>
            <a:round/>
            <a:headEnd len="med" w="med" type="none"/>
            <a:tailEnd len="med" w="med" type="none"/>
          </a:ln>
        </p:spPr>
      </p:cxnSp>
      <p:sp>
        <p:nvSpPr>
          <p:cNvPr id="116" name="Google Shape;116;p18"/>
          <p:cNvSpPr/>
          <p:nvPr/>
        </p:nvSpPr>
        <p:spPr>
          <a:xfrm>
            <a:off x="0" y="5084300"/>
            <a:ext cx="9144000" cy="570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7" name="Google Shape;117;p18"/>
          <p:cNvPicPr preferRelativeResize="0"/>
          <p:nvPr/>
        </p:nvPicPr>
        <p:blipFill>
          <a:blip r:embed="rId3">
            <a:alphaModFix/>
          </a:blip>
          <a:stretch>
            <a:fillRect/>
          </a:stretch>
        </p:blipFill>
        <p:spPr>
          <a:xfrm>
            <a:off x="311700" y="1965000"/>
            <a:ext cx="2743200" cy="2743200"/>
          </a:xfrm>
          <a:prstGeom prst="rect">
            <a:avLst/>
          </a:prstGeom>
          <a:noFill/>
          <a:ln>
            <a:noFill/>
          </a:ln>
        </p:spPr>
      </p:pic>
      <p:graphicFrame>
        <p:nvGraphicFramePr>
          <p:cNvPr id="118" name="Google Shape;118;p18"/>
          <p:cNvGraphicFramePr/>
          <p:nvPr/>
        </p:nvGraphicFramePr>
        <p:xfrm>
          <a:off x="3189800" y="2128913"/>
          <a:ext cx="3000000" cy="3000000"/>
        </p:xfrm>
        <a:graphic>
          <a:graphicData uri="http://schemas.openxmlformats.org/drawingml/2006/table">
            <a:tbl>
              <a:tblPr>
                <a:noFill/>
                <a:tableStyleId>{61065937-3376-43E4-8507-63912304C080}</a:tableStyleId>
              </a:tblPr>
              <a:tblGrid>
                <a:gridCol w="952500"/>
                <a:gridCol w="952500"/>
                <a:gridCol w="952500"/>
                <a:gridCol w="952500"/>
                <a:gridCol w="952500"/>
                <a:gridCol w="952500"/>
              </a:tblGrid>
              <a:tr h="342900">
                <a:tc>
                  <a:txBody>
                    <a:bodyPr/>
                    <a:lstStyle/>
                    <a:p>
                      <a:pPr indent="0" lvl="0" marL="0" rtl="0" algn="l">
                        <a:lnSpc>
                          <a:spcPct val="115000"/>
                        </a:lnSpc>
                        <a:spcBef>
                          <a:spcPts val="0"/>
                        </a:spcBef>
                        <a:spcAft>
                          <a:spcPts val="0"/>
                        </a:spcAft>
                        <a:buNone/>
                      </a:pPr>
                      <a:r>
                        <a:rPr lang="en" sz="1000">
                          <a:solidFill>
                            <a:schemeClr val="dk2"/>
                          </a:solidFill>
                        </a:rPr>
                        <a:t>Segment</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Sales Number</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Share/ Distribution</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Average Price</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Average Sq Ft</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Average</a:t>
                      </a:r>
                      <a:endParaRPr sz="1000">
                        <a:solidFill>
                          <a:schemeClr val="dk2"/>
                        </a:solidFill>
                      </a:endParaRPr>
                    </a:p>
                    <a:p>
                      <a:pPr indent="0" lvl="0" marL="0" rtl="0" algn="l">
                        <a:lnSpc>
                          <a:spcPct val="115000"/>
                        </a:lnSpc>
                        <a:spcBef>
                          <a:spcPts val="0"/>
                        </a:spcBef>
                        <a:spcAft>
                          <a:spcPts val="0"/>
                        </a:spcAft>
                        <a:buNone/>
                      </a:pPr>
                      <a:r>
                        <a:rPr lang="en" sz="1000">
                          <a:solidFill>
                            <a:schemeClr val="dk2"/>
                          </a:solidFill>
                        </a:rPr>
                        <a:t>Units</a:t>
                      </a:r>
                      <a:endParaRPr sz="1000">
                        <a:solidFill>
                          <a:schemeClr val="dk2"/>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solidFill>
                            <a:schemeClr val="dk2"/>
                          </a:solidFill>
                        </a:rPr>
                        <a:t>1. Standard</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$2,695</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48.30%</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$478,091</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1,764</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2</a:t>
                      </a:r>
                      <a:endParaRPr sz="1000">
                        <a:solidFill>
                          <a:schemeClr val="dk2"/>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solidFill>
                            <a:schemeClr val="dk2"/>
                          </a:solidFill>
                        </a:rPr>
                        <a:t>2. Premium</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$1,448</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25.90%</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$744,740</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2,760</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2</a:t>
                      </a:r>
                      <a:endParaRPr sz="1000">
                        <a:solidFill>
                          <a:schemeClr val="dk2"/>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solidFill>
                            <a:schemeClr val="dk2"/>
                          </a:solidFill>
                        </a:rPr>
                        <a:t>3.Entry</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$1,437</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25.80%</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$415,000</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1,201</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1</a:t>
                      </a:r>
                      <a:endParaRPr sz="1000">
                        <a:solidFill>
                          <a:schemeClr val="dk2"/>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19" name="Google Shape;119;p18"/>
          <p:cNvSpPr/>
          <p:nvPr/>
        </p:nvSpPr>
        <p:spPr>
          <a:xfrm>
            <a:off x="3518250" y="3419800"/>
            <a:ext cx="5386500" cy="1404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18"/>
          <p:cNvSpPr txBox="1"/>
          <p:nvPr>
            <p:ph idx="1" type="body"/>
          </p:nvPr>
        </p:nvSpPr>
        <p:spPr>
          <a:xfrm>
            <a:off x="3846300" y="3436450"/>
            <a:ext cx="5058600" cy="1359600"/>
          </a:xfrm>
          <a:prstGeom prst="rect">
            <a:avLst/>
          </a:prstGeom>
        </p:spPr>
        <p:txBody>
          <a:bodyPr anchorCtr="0" anchor="t" bIns="91425" lIns="285750" spcFirstLastPara="1" rIns="91425" wrap="square" tIns="91425">
            <a:noAutofit/>
          </a:bodyPr>
          <a:lstStyle/>
          <a:p>
            <a:pPr indent="0" lvl="0" marL="0" rtl="0" algn="l">
              <a:spcBef>
                <a:spcPts val="0"/>
              </a:spcBef>
              <a:spcAft>
                <a:spcPts val="0"/>
              </a:spcAft>
              <a:buNone/>
            </a:pPr>
            <a:r>
              <a:rPr lang="en" sz="1000"/>
              <a:t>T</a:t>
            </a:r>
            <a:r>
              <a:rPr lang="en" sz="1000"/>
              <a:t>o maximize revenue while minimizing market entry risk a</a:t>
            </a:r>
            <a:r>
              <a:rPr lang="en" sz="1000"/>
              <a:t> new brokerage should strategically focus on Standard (Segment 1), which </a:t>
            </a:r>
            <a:r>
              <a:rPr lang="en" sz="1000"/>
              <a:t>represents nearly half 48.3% of the local market share, targeting the largest possible pool of potential listings.</a:t>
            </a:r>
            <a:endParaRPr sz="1000"/>
          </a:p>
          <a:p>
            <a:pPr indent="0" lvl="0" marL="0" rtl="0" algn="l">
              <a:spcBef>
                <a:spcPts val="0"/>
              </a:spcBef>
              <a:spcAft>
                <a:spcPts val="0"/>
              </a:spcAft>
              <a:buNone/>
            </a:pPr>
            <a:r>
              <a:rPr lang="en" sz="1000"/>
              <a:t>Furthermore, with a median price of $478k, these homes are far more</a:t>
            </a:r>
            <a:endParaRPr sz="1000"/>
          </a:p>
          <a:p>
            <a:pPr indent="0" lvl="0" marL="0" rtl="0" algn="l">
              <a:spcBef>
                <a:spcPts val="0"/>
              </a:spcBef>
              <a:spcAft>
                <a:spcPts val="0"/>
              </a:spcAft>
              <a:buNone/>
            </a:pPr>
            <a:r>
              <a:rPr lang="en" sz="1000"/>
              <a:t>affordable and liquid than those in the Premium segment ($744k), making</a:t>
            </a:r>
            <a:endParaRPr sz="1000"/>
          </a:p>
          <a:p>
            <a:pPr indent="0" lvl="0" marL="0" rtl="0" algn="l">
              <a:spcBef>
                <a:spcPts val="0"/>
              </a:spcBef>
              <a:spcAft>
                <a:spcPts val="0"/>
              </a:spcAft>
              <a:buNone/>
            </a:pPr>
            <a:r>
              <a:rPr lang="en" sz="1000"/>
              <a:t>them highly attractive to a broad base of buyers and sellers alike.</a:t>
            </a:r>
            <a:endParaRPr sz="1000"/>
          </a:p>
        </p:txBody>
      </p:sp>
      <p:sp>
        <p:nvSpPr>
          <p:cNvPr id="121" name="Google Shape;121;p18"/>
          <p:cNvSpPr txBox="1"/>
          <p:nvPr>
            <p:ph idx="1" type="body"/>
          </p:nvPr>
        </p:nvSpPr>
        <p:spPr>
          <a:xfrm>
            <a:off x="3528300" y="3436450"/>
            <a:ext cx="318000" cy="679500"/>
          </a:xfrm>
          <a:prstGeom prst="rect">
            <a:avLst/>
          </a:prstGeom>
        </p:spPr>
        <p:txBody>
          <a:bodyPr anchorCtr="0" anchor="t" bIns="91425" lIns="285750" spcFirstLastPara="1" rIns="91425" wrap="square" tIns="91425">
            <a:noAutofit/>
          </a:bodyPr>
          <a:lstStyle/>
          <a:p>
            <a:pPr indent="0" lvl="0" marL="0" rtl="0" algn="l">
              <a:spcBef>
                <a:spcPts val="0"/>
              </a:spcBef>
              <a:spcAft>
                <a:spcPts val="0"/>
              </a:spcAft>
              <a:buNone/>
            </a:pPr>
            <a:r>
              <a:rPr lang="en" sz="2500"/>
              <a:t>!</a:t>
            </a:r>
            <a:endParaRPr sz="2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39450" y="405550"/>
            <a:ext cx="91047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500">
                <a:solidFill>
                  <a:schemeClr val="dk2"/>
                </a:solidFill>
              </a:rPr>
              <a:t>Building</a:t>
            </a:r>
            <a:r>
              <a:rPr lang="en" sz="2500">
                <a:solidFill>
                  <a:schemeClr val="dk2"/>
                </a:solidFill>
              </a:rPr>
              <a:t> class is the main </a:t>
            </a:r>
            <a:r>
              <a:rPr lang="en" sz="2500">
                <a:solidFill>
                  <a:schemeClr val="dk2"/>
                </a:solidFill>
              </a:rPr>
              <a:t>price driver, </a:t>
            </a:r>
            <a:r>
              <a:rPr lang="en" sz="2500">
                <a:solidFill>
                  <a:schemeClr val="dk2"/>
                </a:solidFill>
              </a:rPr>
              <a:t>vs Age or #units</a:t>
            </a:r>
            <a:endParaRPr sz="2500"/>
          </a:p>
        </p:txBody>
      </p:sp>
      <p:sp>
        <p:nvSpPr>
          <p:cNvPr id="127" name="Google Shape;127;p19"/>
          <p:cNvSpPr/>
          <p:nvPr/>
        </p:nvSpPr>
        <p:spPr>
          <a:xfrm>
            <a:off x="0" y="0"/>
            <a:ext cx="9144000" cy="2871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8" name="Google Shape;128;p19"/>
          <p:cNvCxnSpPr/>
          <p:nvPr/>
        </p:nvCxnSpPr>
        <p:spPr>
          <a:xfrm>
            <a:off x="458600" y="976025"/>
            <a:ext cx="8255100" cy="0"/>
          </a:xfrm>
          <a:prstGeom prst="straightConnector1">
            <a:avLst/>
          </a:prstGeom>
          <a:noFill/>
          <a:ln cap="flat" cmpd="sng" w="19050">
            <a:solidFill>
              <a:schemeClr val="dk1"/>
            </a:solidFill>
            <a:prstDash val="solid"/>
            <a:round/>
            <a:headEnd len="med" w="med" type="none"/>
            <a:tailEnd len="med" w="med" type="none"/>
          </a:ln>
        </p:spPr>
      </p:cxnSp>
      <p:sp>
        <p:nvSpPr>
          <p:cNvPr id="129" name="Google Shape;129;p19"/>
          <p:cNvSpPr/>
          <p:nvPr/>
        </p:nvSpPr>
        <p:spPr>
          <a:xfrm>
            <a:off x="0" y="5084300"/>
            <a:ext cx="9144000" cy="570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19"/>
          <p:cNvSpPr txBox="1"/>
          <p:nvPr>
            <p:ph idx="1" type="body"/>
          </p:nvPr>
        </p:nvSpPr>
        <p:spPr>
          <a:xfrm>
            <a:off x="4384250" y="1096700"/>
            <a:ext cx="4448100" cy="2323200"/>
          </a:xfrm>
          <a:prstGeom prst="rect">
            <a:avLst/>
          </a:prstGeom>
        </p:spPr>
        <p:txBody>
          <a:bodyPr anchorCtr="0" anchor="t" bIns="91425" lIns="285750" spcFirstLastPara="1" rIns="91425" wrap="square" tIns="91425">
            <a:noAutofit/>
          </a:bodyPr>
          <a:lstStyle/>
          <a:p>
            <a:pPr indent="-177800" lvl="0" marL="0" rtl="0" algn="l">
              <a:spcBef>
                <a:spcPts val="0"/>
              </a:spcBef>
              <a:spcAft>
                <a:spcPts val="0"/>
              </a:spcAft>
              <a:buSzPts val="1000"/>
              <a:buChar char="●"/>
            </a:pPr>
            <a:r>
              <a:rPr lang="en" sz="1000"/>
              <a:t>Sale Year (</a:t>
            </a:r>
            <a:r>
              <a:rPr lang="en" sz="1000"/>
              <a:t>Time</a:t>
            </a:r>
            <a:r>
              <a:rPr lang="en" sz="1000"/>
              <a:t>): The market is appreciating. Every year, properties gain about +$16.04 per sq ft. If </a:t>
            </a:r>
            <a:r>
              <a:rPr lang="en" sz="1000"/>
              <a:t>you wait</a:t>
            </a:r>
            <a:r>
              <a:rPr lang="en" sz="1000"/>
              <a:t> one year to sell your house, the overall market inflation gives you an extra $16.04 per square foot.</a:t>
            </a:r>
            <a:endParaRPr sz="1000"/>
          </a:p>
          <a:p>
            <a:pPr indent="-177800" lvl="0" marL="0" rtl="0" algn="l">
              <a:spcBef>
                <a:spcPts val="0"/>
              </a:spcBef>
              <a:spcAft>
                <a:spcPts val="0"/>
              </a:spcAft>
              <a:buSzPts val="1000"/>
              <a:buChar char="●"/>
            </a:pPr>
            <a:r>
              <a:rPr lang="en" sz="1000"/>
              <a:t>Year Built: Newer is not better in Canarsie. For every year newer a building is, its value decreases by -$0.65 per sq ft, indicating a premium on older construction (likely due to stronger brick construction, larger lots, or historic charm).</a:t>
            </a:r>
            <a:endParaRPr sz="1000"/>
          </a:p>
          <a:p>
            <a:pPr indent="-177800" lvl="0" marL="0" rtl="0" algn="l">
              <a:spcBef>
                <a:spcPts val="0"/>
              </a:spcBef>
              <a:spcAft>
                <a:spcPts val="0"/>
              </a:spcAft>
              <a:buSzPts val="1000"/>
              <a:buChar char="●"/>
            </a:pPr>
            <a:r>
              <a:rPr lang="en" sz="1000"/>
              <a:t>Number of Units: Density penalizes square-foot value. Each extra residential unit drops the price by -$14.37 per sq ft.</a:t>
            </a:r>
            <a:endParaRPr sz="1000"/>
          </a:p>
          <a:p>
            <a:pPr indent="-177800" lvl="0" marL="0" rtl="0" algn="l">
              <a:spcBef>
                <a:spcPts val="0"/>
              </a:spcBef>
              <a:spcAft>
                <a:spcPts val="0"/>
              </a:spcAft>
              <a:buSzPts val="1000"/>
              <a:buChar char="●"/>
            </a:pPr>
            <a:r>
              <a:rPr lang="en" sz="1000"/>
              <a:t>Building Class: Property type matters heavily. For example, "THREE FAMILIES" buildings sell for -$98.68 less per square foot compared to the baseline, while the "Other" category commands a +$17.35 premium.</a:t>
            </a:r>
            <a:endParaRPr sz="1000"/>
          </a:p>
        </p:txBody>
      </p:sp>
      <p:graphicFrame>
        <p:nvGraphicFramePr>
          <p:cNvPr id="131" name="Google Shape;131;p19"/>
          <p:cNvGraphicFramePr/>
          <p:nvPr/>
        </p:nvGraphicFramePr>
        <p:xfrm>
          <a:off x="311700" y="1175513"/>
          <a:ext cx="3000000" cy="3000000"/>
        </p:xfrm>
        <a:graphic>
          <a:graphicData uri="http://schemas.openxmlformats.org/drawingml/2006/table">
            <a:tbl>
              <a:tblPr>
                <a:noFill/>
                <a:tableStyleId>{61065937-3376-43E4-8507-63912304C080}</a:tableStyleId>
              </a:tblPr>
              <a:tblGrid>
                <a:gridCol w="2857500"/>
                <a:gridCol w="952500"/>
              </a:tblGrid>
              <a:tr h="292325">
                <a:tc>
                  <a:txBody>
                    <a:bodyPr/>
                    <a:lstStyle/>
                    <a:p>
                      <a:pPr indent="0" lvl="0" marL="0" rtl="0" algn="l">
                        <a:lnSpc>
                          <a:spcPct val="115000"/>
                        </a:lnSpc>
                        <a:spcBef>
                          <a:spcPts val="0"/>
                        </a:spcBef>
                        <a:spcAft>
                          <a:spcPts val="0"/>
                        </a:spcAft>
                        <a:buNone/>
                      </a:pPr>
                      <a:r>
                        <a:rPr lang="en" sz="1000">
                          <a:solidFill>
                            <a:schemeClr val="dk2"/>
                          </a:solidFill>
                        </a:rPr>
                        <a:t>Drivers</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Estimate ($)</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2325">
                <a:tc>
                  <a:txBody>
                    <a:bodyPr/>
                    <a:lstStyle/>
                    <a:p>
                      <a:pPr indent="0" lvl="0" marL="0" rtl="0" algn="l">
                        <a:lnSpc>
                          <a:spcPct val="115000"/>
                        </a:lnSpc>
                        <a:spcBef>
                          <a:spcPts val="0"/>
                        </a:spcBef>
                        <a:spcAft>
                          <a:spcPts val="0"/>
                        </a:spcAft>
                        <a:buNone/>
                      </a:pPr>
                      <a:r>
                        <a:rPr lang="en" sz="1000">
                          <a:solidFill>
                            <a:schemeClr val="dk2"/>
                          </a:solidFill>
                        </a:rPr>
                        <a:t>SALE YEAR</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$16.0</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2325">
                <a:tc>
                  <a:txBody>
                    <a:bodyPr/>
                    <a:lstStyle/>
                    <a:p>
                      <a:pPr indent="0" lvl="0" marL="0" rtl="0" algn="l">
                        <a:lnSpc>
                          <a:spcPct val="115000"/>
                        </a:lnSpc>
                        <a:spcBef>
                          <a:spcPts val="0"/>
                        </a:spcBef>
                        <a:spcAft>
                          <a:spcPts val="0"/>
                        </a:spcAft>
                        <a:buNone/>
                      </a:pPr>
                      <a:r>
                        <a:rPr lang="en" sz="1000">
                          <a:solidFill>
                            <a:schemeClr val="dk2"/>
                          </a:solidFill>
                        </a:rPr>
                        <a:t>YEAR BUILT</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-$0.6</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2325">
                <a:tc>
                  <a:txBody>
                    <a:bodyPr/>
                    <a:lstStyle/>
                    <a:p>
                      <a:pPr indent="0" lvl="0" marL="0" rtl="0" algn="l">
                        <a:lnSpc>
                          <a:spcPct val="115000"/>
                        </a:lnSpc>
                        <a:spcBef>
                          <a:spcPts val="0"/>
                        </a:spcBef>
                        <a:spcAft>
                          <a:spcPts val="0"/>
                        </a:spcAft>
                        <a:buNone/>
                      </a:pPr>
                      <a:r>
                        <a:rPr lang="en" sz="1000">
                          <a:solidFill>
                            <a:schemeClr val="dk2"/>
                          </a:solidFill>
                        </a:rPr>
                        <a:t>RESIDENTIAL UNITS</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-$14.4</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2325">
                <a:tc>
                  <a:txBody>
                    <a:bodyPr/>
                    <a:lstStyle/>
                    <a:p>
                      <a:pPr indent="0" lvl="0" marL="0" rtl="0" algn="l">
                        <a:lnSpc>
                          <a:spcPct val="115000"/>
                        </a:lnSpc>
                        <a:spcBef>
                          <a:spcPts val="0"/>
                        </a:spcBef>
                        <a:spcAft>
                          <a:spcPts val="0"/>
                        </a:spcAft>
                        <a:buNone/>
                      </a:pPr>
                      <a:r>
                        <a:rPr lang="en" sz="1000">
                          <a:solidFill>
                            <a:schemeClr val="dk2"/>
                          </a:solidFill>
                        </a:rPr>
                        <a:t>BLDG CLASS: ONE FAMILY ATTACHED</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-$0.7</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2325">
                <a:tc>
                  <a:txBody>
                    <a:bodyPr/>
                    <a:lstStyle/>
                    <a:p>
                      <a:pPr indent="0" lvl="0" marL="0" rtl="0" algn="l">
                        <a:lnSpc>
                          <a:spcPct val="115000"/>
                        </a:lnSpc>
                        <a:spcBef>
                          <a:spcPts val="0"/>
                        </a:spcBef>
                        <a:spcAft>
                          <a:spcPts val="0"/>
                        </a:spcAft>
                        <a:buNone/>
                      </a:pPr>
                      <a:r>
                        <a:rPr lang="en" sz="1000">
                          <a:solidFill>
                            <a:schemeClr val="dk2"/>
                          </a:solidFill>
                        </a:rPr>
                        <a:t>BLDG CLASS: TWO FAMILY BRICK</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-$38.8</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2325">
                <a:tc>
                  <a:txBody>
                    <a:bodyPr/>
                    <a:lstStyle/>
                    <a:p>
                      <a:pPr indent="0" lvl="0" marL="0" rtl="0" algn="l">
                        <a:lnSpc>
                          <a:spcPct val="115000"/>
                        </a:lnSpc>
                        <a:spcBef>
                          <a:spcPts val="0"/>
                        </a:spcBef>
                        <a:spcAft>
                          <a:spcPts val="0"/>
                        </a:spcAft>
                        <a:buNone/>
                      </a:pPr>
                      <a:r>
                        <a:rPr lang="en" sz="1000">
                          <a:solidFill>
                            <a:schemeClr val="dk2"/>
                          </a:solidFill>
                        </a:rPr>
                        <a:t>BLDG CLASS: TWO FAMILY FRAME</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-$40.6</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2325">
                <a:tc>
                  <a:txBody>
                    <a:bodyPr/>
                    <a:lstStyle/>
                    <a:p>
                      <a:pPr indent="0" lvl="0" marL="0" rtl="0" algn="l">
                        <a:lnSpc>
                          <a:spcPct val="115000"/>
                        </a:lnSpc>
                        <a:spcBef>
                          <a:spcPts val="0"/>
                        </a:spcBef>
                        <a:spcAft>
                          <a:spcPts val="0"/>
                        </a:spcAft>
                        <a:buNone/>
                      </a:pPr>
                      <a:r>
                        <a:rPr lang="en" sz="1000">
                          <a:solidFill>
                            <a:schemeClr val="dk2"/>
                          </a:solidFill>
                        </a:rPr>
                        <a:t>BLDG CLASS: MISCELLANEOUS TWO FAMILY</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-$61.5</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2325">
                <a:tc>
                  <a:txBody>
                    <a:bodyPr/>
                    <a:lstStyle/>
                    <a:p>
                      <a:pPr indent="0" lvl="0" marL="0" rtl="0" algn="l">
                        <a:lnSpc>
                          <a:spcPct val="115000"/>
                        </a:lnSpc>
                        <a:spcBef>
                          <a:spcPts val="0"/>
                        </a:spcBef>
                        <a:spcAft>
                          <a:spcPts val="0"/>
                        </a:spcAft>
                        <a:buNone/>
                      </a:pPr>
                      <a:r>
                        <a:rPr lang="en" sz="1000">
                          <a:solidFill>
                            <a:schemeClr val="dk2"/>
                          </a:solidFill>
                        </a:rPr>
                        <a:t>BLDG CLASS: THREE FAMILIES</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-$98.7</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2325">
                <a:tc>
                  <a:txBody>
                    <a:bodyPr/>
                    <a:lstStyle/>
                    <a:p>
                      <a:pPr indent="0" lvl="0" marL="0" rtl="0" algn="l">
                        <a:lnSpc>
                          <a:spcPct val="115000"/>
                        </a:lnSpc>
                        <a:spcBef>
                          <a:spcPts val="0"/>
                        </a:spcBef>
                        <a:spcAft>
                          <a:spcPts val="0"/>
                        </a:spcAft>
                        <a:buNone/>
                      </a:pPr>
                      <a:r>
                        <a:rPr lang="en" sz="1000">
                          <a:solidFill>
                            <a:schemeClr val="dk2"/>
                          </a:solidFill>
                        </a:rPr>
                        <a:t>BLDG CLASS: Other</a:t>
                      </a:r>
                      <a:endParaRPr sz="1000">
                        <a:solidFill>
                          <a:schemeClr val="dk2"/>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dk2"/>
                          </a:solidFill>
                        </a:rPr>
                        <a:t>$17.4</a:t>
                      </a:r>
                      <a:endParaRPr sz="1000">
                        <a:solidFill>
                          <a:schemeClr val="dk2"/>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32" name="Google Shape;132;p19"/>
          <p:cNvSpPr/>
          <p:nvPr/>
        </p:nvSpPr>
        <p:spPr>
          <a:xfrm>
            <a:off x="4384250" y="3380125"/>
            <a:ext cx="4520400" cy="1704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19"/>
          <p:cNvSpPr txBox="1"/>
          <p:nvPr>
            <p:ph idx="1" type="body"/>
          </p:nvPr>
        </p:nvSpPr>
        <p:spPr>
          <a:xfrm>
            <a:off x="4628250" y="3380125"/>
            <a:ext cx="4276500" cy="1704000"/>
          </a:xfrm>
          <a:prstGeom prst="rect">
            <a:avLst/>
          </a:prstGeom>
        </p:spPr>
        <p:txBody>
          <a:bodyPr anchorCtr="0" anchor="t" bIns="91425" lIns="285750" spcFirstLastPara="1" rIns="91425" wrap="square" tIns="91425">
            <a:noAutofit/>
          </a:bodyPr>
          <a:lstStyle/>
          <a:p>
            <a:pPr indent="0" lvl="0" marL="0" rtl="0" algn="l">
              <a:spcBef>
                <a:spcPts val="0"/>
              </a:spcBef>
              <a:spcAft>
                <a:spcPts val="0"/>
              </a:spcAft>
              <a:buNone/>
            </a:pPr>
            <a:r>
              <a:rPr lang="en" sz="1000"/>
              <a:t>Roughly 95% of our pricing estimates will fall within ±$228/sqft of the actual price – this  is extremely high compared to Canarsie's media price of ~$400/sqft (in 2025). </a:t>
            </a:r>
            <a:endParaRPr sz="1000"/>
          </a:p>
          <a:p>
            <a:pPr indent="0" lvl="0" marL="0" rtl="0" algn="l">
              <a:spcBef>
                <a:spcPts val="0"/>
              </a:spcBef>
              <a:spcAft>
                <a:spcPts val="0"/>
              </a:spcAft>
              <a:buNone/>
            </a:pPr>
            <a:r>
              <a:rPr lang="en" sz="1000"/>
              <a:t>This massive deviation proves that Canarsie is an "opaque" market driven by unmeasured factors like interior renovations and specific block appeal.</a:t>
            </a:r>
            <a:endParaRPr sz="1000"/>
          </a:p>
          <a:p>
            <a:pPr indent="0" lvl="0" marL="0" rtl="0" algn="l">
              <a:spcBef>
                <a:spcPts val="0"/>
              </a:spcBef>
              <a:spcAft>
                <a:spcPts val="0"/>
              </a:spcAft>
              <a:buNone/>
            </a:pPr>
            <a:r>
              <a:rPr lang="en" sz="1000"/>
              <a:t>A brokerage entering Canarsie will have a massive competitive advantage by using on-the-ground local experts to inspect properties, and accurately identify true mispriced gems.</a:t>
            </a:r>
            <a:endParaRPr sz="1000"/>
          </a:p>
        </p:txBody>
      </p:sp>
      <p:sp>
        <p:nvSpPr>
          <p:cNvPr id="134" name="Google Shape;134;p19"/>
          <p:cNvSpPr txBox="1"/>
          <p:nvPr>
            <p:ph idx="1" type="body"/>
          </p:nvPr>
        </p:nvSpPr>
        <p:spPr>
          <a:xfrm>
            <a:off x="4384250" y="3436450"/>
            <a:ext cx="318000" cy="679500"/>
          </a:xfrm>
          <a:prstGeom prst="rect">
            <a:avLst/>
          </a:prstGeom>
        </p:spPr>
        <p:txBody>
          <a:bodyPr anchorCtr="0" anchor="t" bIns="91425" lIns="285750" spcFirstLastPara="1" rIns="91425" wrap="square" tIns="91425">
            <a:noAutofit/>
          </a:bodyPr>
          <a:lstStyle/>
          <a:p>
            <a:pPr indent="0" lvl="0" marL="0" rtl="0" algn="l">
              <a:spcBef>
                <a:spcPts val="0"/>
              </a:spcBef>
              <a:spcAft>
                <a:spcPts val="0"/>
              </a:spcAft>
              <a:buNone/>
            </a:pPr>
            <a:r>
              <a:rPr lang="en" sz="2500"/>
              <a:t>!</a:t>
            </a:r>
            <a:endParaRPr sz="2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0"/>
          <p:cNvSpPr txBox="1"/>
          <p:nvPr>
            <p:ph type="title"/>
          </p:nvPr>
        </p:nvSpPr>
        <p:spPr>
          <a:xfrm>
            <a:off x="39450" y="405550"/>
            <a:ext cx="91047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500">
                <a:solidFill>
                  <a:schemeClr val="dk2"/>
                </a:solidFill>
              </a:rPr>
              <a:t>Future volumes are unpredictable, massive uncertainty range</a:t>
            </a:r>
            <a:endParaRPr sz="2500">
              <a:solidFill>
                <a:schemeClr val="dk2"/>
              </a:solidFill>
            </a:endParaRPr>
          </a:p>
        </p:txBody>
      </p:sp>
      <p:sp>
        <p:nvSpPr>
          <p:cNvPr id="140" name="Google Shape;140;p20"/>
          <p:cNvSpPr/>
          <p:nvPr/>
        </p:nvSpPr>
        <p:spPr>
          <a:xfrm>
            <a:off x="0" y="0"/>
            <a:ext cx="9144000" cy="2871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41" name="Google Shape;141;p20"/>
          <p:cNvCxnSpPr/>
          <p:nvPr/>
        </p:nvCxnSpPr>
        <p:spPr>
          <a:xfrm>
            <a:off x="458600" y="976025"/>
            <a:ext cx="8255100" cy="0"/>
          </a:xfrm>
          <a:prstGeom prst="straightConnector1">
            <a:avLst/>
          </a:prstGeom>
          <a:noFill/>
          <a:ln cap="flat" cmpd="sng" w="19050">
            <a:solidFill>
              <a:schemeClr val="dk1"/>
            </a:solidFill>
            <a:prstDash val="solid"/>
            <a:round/>
            <a:headEnd len="med" w="med" type="none"/>
            <a:tailEnd len="med" w="med" type="none"/>
          </a:ln>
        </p:spPr>
      </p:cxnSp>
      <p:sp>
        <p:nvSpPr>
          <p:cNvPr id="142" name="Google Shape;142;p20"/>
          <p:cNvSpPr/>
          <p:nvPr/>
        </p:nvSpPr>
        <p:spPr>
          <a:xfrm>
            <a:off x="0" y="5084300"/>
            <a:ext cx="9144000" cy="570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0"/>
          <p:cNvSpPr txBox="1"/>
          <p:nvPr>
            <p:ph idx="1" type="body"/>
          </p:nvPr>
        </p:nvSpPr>
        <p:spPr>
          <a:xfrm>
            <a:off x="311700" y="1096688"/>
            <a:ext cx="8520600" cy="679500"/>
          </a:xfrm>
          <a:prstGeom prst="rect">
            <a:avLst/>
          </a:prstGeom>
        </p:spPr>
        <p:txBody>
          <a:bodyPr anchorCtr="0" anchor="t" bIns="91425" lIns="285750" spcFirstLastPara="1" rIns="91425" wrap="square" tIns="91425">
            <a:noAutofit/>
          </a:bodyPr>
          <a:lstStyle/>
          <a:p>
            <a:pPr indent="-177800" lvl="0" marL="0" rtl="0" algn="l">
              <a:spcBef>
                <a:spcPts val="0"/>
              </a:spcBef>
              <a:spcAft>
                <a:spcPts val="0"/>
              </a:spcAft>
              <a:buSzPts val="1000"/>
              <a:buChar char="●"/>
            </a:pPr>
            <a:r>
              <a:rPr lang="en" sz="1000"/>
              <a:t>2009–2013: A relatively flat period, hovering between 50 and 75 sales per quarter, reflecting the slow recovery following the 2008 housing crash.</a:t>
            </a:r>
            <a:endParaRPr sz="1000"/>
          </a:p>
          <a:p>
            <a:pPr indent="-177800" lvl="0" marL="0" rtl="0" algn="l">
              <a:spcBef>
                <a:spcPts val="0"/>
              </a:spcBef>
              <a:spcAft>
                <a:spcPts val="0"/>
              </a:spcAft>
              <a:buSzPts val="1000"/>
              <a:buChar char="●"/>
            </a:pPr>
            <a:r>
              <a:rPr lang="en" sz="1000"/>
              <a:t>2014–2019: A strong, sustained upward trend, peaking at an all-time high of 124 sales in Q4 2018 and Q4 2019.</a:t>
            </a:r>
            <a:endParaRPr sz="1000"/>
          </a:p>
          <a:p>
            <a:pPr indent="-177800" lvl="0" marL="0" rtl="0" algn="l">
              <a:spcBef>
                <a:spcPts val="0"/>
              </a:spcBef>
              <a:spcAft>
                <a:spcPts val="0"/>
              </a:spcAft>
              <a:buSzPts val="1000"/>
              <a:buChar char="●"/>
            </a:pPr>
            <a:r>
              <a:rPr lang="en" sz="1000"/>
              <a:t>2020–2025: Sales volumes back down to historical lows by the end of 2025.</a:t>
            </a:r>
            <a:endParaRPr sz="1000"/>
          </a:p>
        </p:txBody>
      </p:sp>
      <p:pic>
        <p:nvPicPr>
          <p:cNvPr id="144" name="Google Shape;144;p20"/>
          <p:cNvPicPr preferRelativeResize="0"/>
          <p:nvPr/>
        </p:nvPicPr>
        <p:blipFill rotWithShape="1">
          <a:blip r:embed="rId3">
            <a:alphaModFix/>
          </a:blip>
          <a:srcRect b="0" l="0" r="0" t="0"/>
          <a:stretch/>
        </p:blipFill>
        <p:spPr>
          <a:xfrm>
            <a:off x="564000" y="1965006"/>
            <a:ext cx="2743200" cy="2743200"/>
          </a:xfrm>
          <a:prstGeom prst="rect">
            <a:avLst/>
          </a:prstGeom>
          <a:noFill/>
          <a:ln>
            <a:noFill/>
          </a:ln>
        </p:spPr>
      </p:pic>
      <p:graphicFrame>
        <p:nvGraphicFramePr>
          <p:cNvPr id="145" name="Google Shape;145;p20"/>
          <p:cNvGraphicFramePr/>
          <p:nvPr/>
        </p:nvGraphicFramePr>
        <p:xfrm>
          <a:off x="4179900" y="2299425"/>
          <a:ext cx="3000000" cy="3000000"/>
        </p:xfrm>
        <a:graphic>
          <a:graphicData uri="http://schemas.openxmlformats.org/drawingml/2006/table">
            <a:tbl>
              <a:tblPr>
                <a:noFill/>
                <a:tableStyleId>{61065937-3376-43E4-8507-63912304C080}</a:tableStyleId>
              </a:tblPr>
              <a:tblGrid>
                <a:gridCol w="631225"/>
                <a:gridCol w="509750"/>
                <a:gridCol w="612825"/>
                <a:gridCol w="612825"/>
              </a:tblGrid>
              <a:tr h="279325">
                <a:tc>
                  <a:txBody>
                    <a:bodyPr/>
                    <a:lstStyle/>
                    <a:p>
                      <a:pPr indent="0" lvl="0" marL="0" rtl="0" algn="l">
                        <a:lnSpc>
                          <a:spcPct val="115000"/>
                        </a:lnSpc>
                        <a:spcBef>
                          <a:spcPts val="0"/>
                        </a:spcBef>
                        <a:spcAft>
                          <a:spcPts val="0"/>
                        </a:spcAft>
                        <a:buNone/>
                      </a:pPr>
                      <a:r>
                        <a:rPr lang="en" sz="1000">
                          <a:solidFill>
                            <a:schemeClr val="dk2"/>
                          </a:solidFill>
                        </a:rPr>
                        <a:t>Quarter</a:t>
                      </a:r>
                      <a:endParaRPr sz="1000">
                        <a:solidFill>
                          <a:schemeClr val="dk2"/>
                        </a:solidFill>
                      </a:endParaRPr>
                    </a:p>
                    <a:p>
                      <a:pPr indent="0" lvl="0" marL="0" rtl="0" algn="l">
                        <a:lnSpc>
                          <a:spcPct val="115000"/>
                        </a:lnSpc>
                        <a:spcBef>
                          <a:spcPts val="0"/>
                        </a:spcBef>
                        <a:spcAft>
                          <a:spcPts val="0"/>
                        </a:spcAft>
                        <a:buNone/>
                      </a:pPr>
                      <a:r>
                        <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2"/>
                          </a:solidFill>
                        </a:rPr>
                        <a:t>Sales</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Lower 95%</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Upper 95%</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8250">
                <a:tc>
                  <a:txBody>
                    <a:bodyPr/>
                    <a:lstStyle/>
                    <a:p>
                      <a:pPr indent="0" lvl="0" marL="0" rtl="0" algn="l">
                        <a:lnSpc>
                          <a:spcPct val="115000"/>
                        </a:lnSpc>
                        <a:spcBef>
                          <a:spcPts val="0"/>
                        </a:spcBef>
                        <a:spcAft>
                          <a:spcPts val="0"/>
                        </a:spcAft>
                        <a:buNone/>
                      </a:pPr>
                      <a:r>
                        <a:rPr lang="en" sz="1000">
                          <a:solidFill>
                            <a:schemeClr val="dk2"/>
                          </a:solidFill>
                        </a:rPr>
                        <a:t>Q1</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43</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12</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73</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8250">
                <a:tc>
                  <a:txBody>
                    <a:bodyPr/>
                    <a:lstStyle/>
                    <a:p>
                      <a:pPr indent="0" lvl="0" marL="0" rtl="0" algn="l">
                        <a:lnSpc>
                          <a:spcPct val="115000"/>
                        </a:lnSpc>
                        <a:spcBef>
                          <a:spcPts val="0"/>
                        </a:spcBef>
                        <a:spcAft>
                          <a:spcPts val="0"/>
                        </a:spcAft>
                        <a:buNone/>
                      </a:pPr>
                      <a:r>
                        <a:rPr lang="en" sz="1000">
                          <a:solidFill>
                            <a:schemeClr val="dk2"/>
                          </a:solidFill>
                        </a:rPr>
                        <a:t>Q2</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43</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7</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79</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8250">
                <a:tc>
                  <a:txBody>
                    <a:bodyPr/>
                    <a:lstStyle/>
                    <a:p>
                      <a:pPr indent="0" lvl="0" marL="0" rtl="0" algn="l">
                        <a:lnSpc>
                          <a:spcPct val="115000"/>
                        </a:lnSpc>
                        <a:spcBef>
                          <a:spcPts val="0"/>
                        </a:spcBef>
                        <a:spcAft>
                          <a:spcPts val="0"/>
                        </a:spcAft>
                        <a:buNone/>
                      </a:pPr>
                      <a:r>
                        <a:rPr lang="en" sz="1000">
                          <a:solidFill>
                            <a:schemeClr val="dk2"/>
                          </a:solidFill>
                        </a:rPr>
                        <a:t>Q3</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43</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3</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83</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8250">
                <a:tc>
                  <a:txBody>
                    <a:bodyPr/>
                    <a:lstStyle/>
                    <a:p>
                      <a:pPr indent="0" lvl="0" marL="0" rtl="0" algn="l">
                        <a:lnSpc>
                          <a:spcPct val="115000"/>
                        </a:lnSpc>
                        <a:spcBef>
                          <a:spcPts val="0"/>
                        </a:spcBef>
                        <a:spcAft>
                          <a:spcPts val="0"/>
                        </a:spcAft>
                        <a:buNone/>
                      </a:pPr>
                      <a:r>
                        <a:rPr lang="en" sz="1000">
                          <a:solidFill>
                            <a:schemeClr val="dk2"/>
                          </a:solidFill>
                        </a:rPr>
                        <a:t>Q4</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43</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2"/>
                          </a:solidFill>
                        </a:rPr>
                        <a:t>-1</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2"/>
                          </a:solidFill>
                        </a:rPr>
                        <a:t>87</a:t>
                      </a:r>
                      <a:endParaRPr sz="1000">
                        <a:solidFill>
                          <a:schemeClr val="dk2"/>
                        </a:solidFill>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46" name="Google Shape;146;p20"/>
          <p:cNvSpPr/>
          <p:nvPr/>
        </p:nvSpPr>
        <p:spPr>
          <a:xfrm>
            <a:off x="7191275" y="2634600"/>
            <a:ext cx="1703400" cy="1253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0"/>
          <p:cNvSpPr txBox="1"/>
          <p:nvPr>
            <p:ph idx="1" type="body"/>
          </p:nvPr>
        </p:nvSpPr>
        <p:spPr>
          <a:xfrm>
            <a:off x="7419225" y="2651250"/>
            <a:ext cx="1452600" cy="1197900"/>
          </a:xfrm>
          <a:prstGeom prst="rect">
            <a:avLst/>
          </a:prstGeom>
        </p:spPr>
        <p:txBody>
          <a:bodyPr anchorCtr="0" anchor="t" bIns="91425" lIns="285750" spcFirstLastPara="1" rIns="91425" wrap="square" tIns="91425">
            <a:noAutofit/>
          </a:bodyPr>
          <a:lstStyle/>
          <a:p>
            <a:pPr indent="0" lvl="0" marL="0" rtl="0" algn="l">
              <a:spcBef>
                <a:spcPts val="0"/>
              </a:spcBef>
              <a:spcAft>
                <a:spcPts val="0"/>
              </a:spcAft>
              <a:buNone/>
            </a:pPr>
            <a:r>
              <a:rPr lang="en" sz="1000"/>
              <a:t>A business cannot rely on a stable, guaranteed volume of transactions to generate consistent revenue.</a:t>
            </a:r>
            <a:endParaRPr sz="1000"/>
          </a:p>
          <a:p>
            <a:pPr indent="0" lvl="0" marL="0" rtl="0" algn="l">
              <a:spcBef>
                <a:spcPts val="0"/>
              </a:spcBef>
              <a:spcAft>
                <a:spcPts val="0"/>
              </a:spcAft>
              <a:buNone/>
            </a:pPr>
            <a:r>
              <a:t/>
            </a:r>
            <a:endParaRPr sz="1000"/>
          </a:p>
        </p:txBody>
      </p:sp>
      <p:sp>
        <p:nvSpPr>
          <p:cNvPr id="148" name="Google Shape;148;p20"/>
          <p:cNvSpPr txBox="1"/>
          <p:nvPr>
            <p:ph idx="1" type="body"/>
          </p:nvPr>
        </p:nvSpPr>
        <p:spPr>
          <a:xfrm>
            <a:off x="7191275" y="2651250"/>
            <a:ext cx="318000" cy="679500"/>
          </a:xfrm>
          <a:prstGeom prst="rect">
            <a:avLst/>
          </a:prstGeom>
        </p:spPr>
        <p:txBody>
          <a:bodyPr anchorCtr="0" anchor="t" bIns="91425" lIns="285750" spcFirstLastPara="1" rIns="91425" wrap="square" tIns="91425">
            <a:noAutofit/>
          </a:bodyPr>
          <a:lstStyle/>
          <a:p>
            <a:pPr indent="0" lvl="0" marL="0" rtl="0" algn="l">
              <a:spcBef>
                <a:spcPts val="0"/>
              </a:spcBef>
              <a:spcAft>
                <a:spcPts val="0"/>
              </a:spcAft>
              <a:buNone/>
            </a:pPr>
            <a:r>
              <a:rPr lang="en" sz="2500"/>
              <a:t>!</a:t>
            </a:r>
            <a:endParaRPr sz="2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1"/>
          <p:cNvSpPr txBox="1"/>
          <p:nvPr>
            <p:ph type="title"/>
          </p:nvPr>
        </p:nvSpPr>
        <p:spPr>
          <a:xfrm>
            <a:off x="311700" y="405550"/>
            <a:ext cx="88323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500">
                <a:solidFill>
                  <a:schemeClr val="dk2"/>
                </a:solidFill>
              </a:rPr>
              <a:t>We should open the Canarsie office</a:t>
            </a:r>
            <a:endParaRPr sz="2500">
              <a:solidFill>
                <a:schemeClr val="dk2"/>
              </a:solidFill>
            </a:endParaRPr>
          </a:p>
        </p:txBody>
      </p:sp>
      <p:sp>
        <p:nvSpPr>
          <p:cNvPr id="154" name="Google Shape;154;p21"/>
          <p:cNvSpPr/>
          <p:nvPr/>
        </p:nvSpPr>
        <p:spPr>
          <a:xfrm>
            <a:off x="0" y="0"/>
            <a:ext cx="9144000" cy="2871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55" name="Google Shape;155;p21"/>
          <p:cNvCxnSpPr/>
          <p:nvPr/>
        </p:nvCxnSpPr>
        <p:spPr>
          <a:xfrm>
            <a:off x="458600" y="976025"/>
            <a:ext cx="8255100" cy="0"/>
          </a:xfrm>
          <a:prstGeom prst="straightConnector1">
            <a:avLst/>
          </a:prstGeom>
          <a:noFill/>
          <a:ln cap="flat" cmpd="sng" w="19050">
            <a:solidFill>
              <a:schemeClr val="dk1"/>
            </a:solidFill>
            <a:prstDash val="solid"/>
            <a:round/>
            <a:headEnd len="med" w="med" type="none"/>
            <a:tailEnd len="med" w="med" type="none"/>
          </a:ln>
        </p:spPr>
      </p:cxnSp>
      <p:sp>
        <p:nvSpPr>
          <p:cNvPr id="156" name="Google Shape;156;p21"/>
          <p:cNvSpPr/>
          <p:nvPr/>
        </p:nvSpPr>
        <p:spPr>
          <a:xfrm>
            <a:off x="0" y="5084300"/>
            <a:ext cx="9144000" cy="570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21"/>
          <p:cNvSpPr txBox="1"/>
          <p:nvPr>
            <p:ph idx="1" type="body"/>
          </p:nvPr>
        </p:nvSpPr>
        <p:spPr>
          <a:xfrm>
            <a:off x="235650" y="1096700"/>
            <a:ext cx="8908500" cy="679500"/>
          </a:xfrm>
          <a:prstGeom prst="rect">
            <a:avLst/>
          </a:prstGeom>
        </p:spPr>
        <p:txBody>
          <a:bodyPr anchorCtr="0" anchor="t" bIns="91425" lIns="285750" spcFirstLastPara="1" rIns="91425" wrap="square" tIns="91425">
            <a:noAutofit/>
          </a:bodyPr>
          <a:lstStyle/>
          <a:p>
            <a:pPr indent="-177800" lvl="0" marL="0" rtl="0" algn="l">
              <a:spcBef>
                <a:spcPts val="0"/>
              </a:spcBef>
              <a:spcAft>
                <a:spcPts val="0"/>
              </a:spcAft>
              <a:buSzPts val="1000"/>
              <a:buChar char="●"/>
            </a:pPr>
            <a:r>
              <a:rPr lang="en" sz="1000"/>
              <a:t>The optimal configuration for the base case is a commission rate of 4.3% with 0 employees. 6.6% market penetration rate.</a:t>
            </a:r>
            <a:endParaRPr sz="1000"/>
          </a:p>
          <a:p>
            <a:pPr indent="-177800" lvl="0" marL="0" rtl="0" algn="l">
              <a:spcBef>
                <a:spcPts val="0"/>
              </a:spcBef>
              <a:spcAft>
                <a:spcPts val="0"/>
              </a:spcAft>
              <a:buSzPts val="1000"/>
              <a:buChar char="●"/>
            </a:pPr>
            <a:r>
              <a:rPr lang="en" sz="1000"/>
              <a:t>First-Quarter Monitoring and Pivot if 43 residential transactions per quarter turned to 12 deals, it confirms the market is tracking along the negative NPV curve. Hitting this Q1 trigger should result in an immediate operational freeze or market exit before subsequent fixed overhead costs are incurred.</a:t>
            </a:r>
            <a:endParaRPr sz="1000"/>
          </a:p>
        </p:txBody>
      </p:sp>
      <p:pic>
        <p:nvPicPr>
          <p:cNvPr id="158" name="Google Shape;158;p21"/>
          <p:cNvPicPr preferRelativeResize="0"/>
          <p:nvPr/>
        </p:nvPicPr>
        <p:blipFill rotWithShape="1">
          <a:blip r:embed="rId3">
            <a:alphaModFix/>
          </a:blip>
          <a:srcRect b="0" l="0" r="0" t="0"/>
          <a:stretch/>
        </p:blipFill>
        <p:spPr>
          <a:xfrm>
            <a:off x="564000" y="1965006"/>
            <a:ext cx="2743200" cy="2743200"/>
          </a:xfrm>
          <a:prstGeom prst="rect">
            <a:avLst/>
          </a:prstGeom>
          <a:noFill/>
          <a:ln>
            <a:noFill/>
          </a:ln>
        </p:spPr>
      </p:pic>
      <p:sp>
        <p:nvSpPr>
          <p:cNvPr id="159" name="Google Shape;159;p21"/>
          <p:cNvSpPr/>
          <p:nvPr/>
        </p:nvSpPr>
        <p:spPr>
          <a:xfrm>
            <a:off x="3791000" y="3875525"/>
            <a:ext cx="5136900" cy="880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21"/>
          <p:cNvSpPr txBox="1"/>
          <p:nvPr>
            <p:ph idx="1" type="body"/>
          </p:nvPr>
        </p:nvSpPr>
        <p:spPr>
          <a:xfrm>
            <a:off x="4018975" y="3892175"/>
            <a:ext cx="4692000" cy="485400"/>
          </a:xfrm>
          <a:prstGeom prst="rect">
            <a:avLst/>
          </a:prstGeom>
        </p:spPr>
        <p:txBody>
          <a:bodyPr anchorCtr="0" anchor="t" bIns="91425" lIns="285750" spcFirstLastPara="1" rIns="91425" wrap="square" tIns="91425">
            <a:noAutofit/>
          </a:bodyPr>
          <a:lstStyle/>
          <a:p>
            <a:pPr indent="0" lvl="0" marL="0" rtl="0" algn="l">
              <a:spcBef>
                <a:spcPts val="0"/>
              </a:spcBef>
              <a:spcAft>
                <a:spcPts val="0"/>
              </a:spcAft>
              <a:buNone/>
            </a:pPr>
            <a:r>
              <a:rPr lang="en" sz="1000"/>
              <a:t>The core trade-off is balancing margin (profit per deal) against volume (market share). Moving to a lower commission rate sacrifices too much profit margin per transaction, while pushing to a higher rate triggers a steep drop in market penetration that completely wipes out the pricing premium.</a:t>
            </a:r>
            <a:endParaRPr sz="1000"/>
          </a:p>
        </p:txBody>
      </p:sp>
      <p:sp>
        <p:nvSpPr>
          <p:cNvPr id="161" name="Google Shape;161;p21"/>
          <p:cNvSpPr txBox="1"/>
          <p:nvPr>
            <p:ph idx="1" type="body"/>
          </p:nvPr>
        </p:nvSpPr>
        <p:spPr>
          <a:xfrm>
            <a:off x="3790988" y="3892175"/>
            <a:ext cx="318000" cy="679500"/>
          </a:xfrm>
          <a:prstGeom prst="rect">
            <a:avLst/>
          </a:prstGeom>
        </p:spPr>
        <p:txBody>
          <a:bodyPr anchorCtr="0" anchor="t" bIns="91425" lIns="285750" spcFirstLastPara="1" rIns="91425" wrap="square" tIns="91425">
            <a:noAutofit/>
          </a:bodyPr>
          <a:lstStyle/>
          <a:p>
            <a:pPr indent="0" lvl="0" marL="0" rtl="0" algn="l">
              <a:spcBef>
                <a:spcPts val="0"/>
              </a:spcBef>
              <a:spcAft>
                <a:spcPts val="0"/>
              </a:spcAft>
              <a:buNone/>
            </a:pPr>
            <a:r>
              <a:rPr lang="en" sz="2500"/>
              <a:t>!</a:t>
            </a:r>
            <a:endParaRPr sz="2500"/>
          </a:p>
        </p:txBody>
      </p:sp>
      <p:graphicFrame>
        <p:nvGraphicFramePr>
          <p:cNvPr id="162" name="Google Shape;162;p21"/>
          <p:cNvGraphicFramePr/>
          <p:nvPr/>
        </p:nvGraphicFramePr>
        <p:xfrm>
          <a:off x="3791000" y="2023550"/>
          <a:ext cx="3000000" cy="3000000"/>
        </p:xfrm>
        <a:graphic>
          <a:graphicData uri="http://schemas.openxmlformats.org/drawingml/2006/table">
            <a:tbl>
              <a:tblPr>
                <a:noFill/>
                <a:tableStyleId>{3350A7B4-DCC7-41F6-B9C9-3B6CB2A2DDE9}</a:tableStyleId>
              </a:tblPr>
              <a:tblGrid>
                <a:gridCol w="938400"/>
                <a:gridCol w="938400"/>
                <a:gridCol w="938400"/>
                <a:gridCol w="938400"/>
                <a:gridCol w="938400"/>
              </a:tblGrid>
              <a:tr h="381000">
                <a:tc>
                  <a:txBody>
                    <a:bodyPr/>
                    <a:lstStyle/>
                    <a:p>
                      <a:pPr indent="0" lvl="0" marL="0" rtl="0" algn="l">
                        <a:spcBef>
                          <a:spcPts val="0"/>
                        </a:spcBef>
                        <a:spcAft>
                          <a:spcPts val="0"/>
                        </a:spcAft>
                        <a:buNone/>
                      </a:pPr>
                      <a:r>
                        <a:t/>
                      </a:r>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434343"/>
                          </a:solidFill>
                        </a:rPr>
                        <a:t>Commission</a:t>
                      </a:r>
                      <a:endParaRPr sz="1000">
                        <a:solidFill>
                          <a:srgbClr val="434343"/>
                        </a:solidFill>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434343"/>
                          </a:solidFill>
                        </a:rPr>
                        <a:t>Employees</a:t>
                      </a:r>
                      <a:endParaRPr sz="1000">
                        <a:solidFill>
                          <a:srgbClr val="434343"/>
                        </a:solidFill>
                      </a:endParaRPr>
                    </a:p>
                  </a:txBody>
                  <a:tcPr marT="19050" marB="19050" marR="28575" marL="2857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434343"/>
                          </a:solidFill>
                        </a:rPr>
                        <a:t>Penetration</a:t>
                      </a:r>
                      <a:endParaRPr sz="1000">
                        <a:solidFill>
                          <a:srgbClr val="434343"/>
                        </a:solidFill>
                      </a:endParaRPr>
                    </a:p>
                  </a:txBody>
                  <a:tcPr marT="19050" marB="19050" marR="91425" marL="9142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434343"/>
                          </a:solidFill>
                        </a:rPr>
                        <a:t>NPV</a:t>
                      </a:r>
                      <a:endParaRPr sz="1000">
                        <a:solidFill>
                          <a:srgbClr val="434343"/>
                        </a:solidFill>
                      </a:endParaRPr>
                    </a:p>
                  </a:txBody>
                  <a:tcPr marT="19050" marB="19050" marR="91425" marL="91425" anchor="b">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000"/>
                        <a:t>Base case</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4.3%</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6.6%</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$215,512</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000"/>
                        <a:t>Conservative </a:t>
                      </a:r>
                      <a:endParaRPr sz="1000"/>
                    </a:p>
                    <a:p>
                      <a:pPr indent="0" lvl="0" marL="0" rtl="0" algn="l">
                        <a:lnSpc>
                          <a:spcPct val="115000"/>
                        </a:lnSpc>
                        <a:spcBef>
                          <a:spcPts val="0"/>
                        </a:spcBef>
                        <a:spcAft>
                          <a:spcPts val="0"/>
                        </a:spcAft>
                        <a:buNone/>
                      </a:pPr>
                      <a:r>
                        <a:rPr lang="en" sz="1000"/>
                        <a:t>(low CI)</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4.3%</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6.6%</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-$72,649</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000"/>
                        <a:t>Optimistic </a:t>
                      </a:r>
                      <a:endParaRPr sz="1000"/>
                    </a:p>
                    <a:p>
                      <a:pPr indent="0" lvl="0" marL="0" rtl="0" algn="l">
                        <a:lnSpc>
                          <a:spcPct val="115000"/>
                        </a:lnSpc>
                        <a:spcBef>
                          <a:spcPts val="0"/>
                        </a:spcBef>
                        <a:spcAft>
                          <a:spcPts val="0"/>
                        </a:spcAft>
                        <a:buNone/>
                      </a:pPr>
                      <a:r>
                        <a:rPr lang="en" sz="1000"/>
                        <a:t>(high CI)</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4.3%</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6.6%</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$503,713</a:t>
                      </a:r>
                      <a:endParaRPr sz="1000"/>
                    </a:p>
                  </a:txBody>
                  <a:tcPr marT="19050" marB="19050" marR="28575" marL="2857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2"/>
          <p:cNvSpPr txBox="1"/>
          <p:nvPr>
            <p:ph type="title"/>
          </p:nvPr>
        </p:nvSpPr>
        <p:spPr>
          <a:xfrm>
            <a:off x="140825" y="445025"/>
            <a:ext cx="90033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500">
                <a:solidFill>
                  <a:schemeClr val="dk2"/>
                </a:solidFill>
              </a:rPr>
              <a:t>Target: volume-driven business with superior customer service</a:t>
            </a:r>
            <a:endParaRPr sz="2500">
              <a:solidFill>
                <a:schemeClr val="dk2"/>
              </a:solidFill>
            </a:endParaRPr>
          </a:p>
        </p:txBody>
      </p:sp>
      <p:sp>
        <p:nvSpPr>
          <p:cNvPr id="168" name="Google Shape;168;p22"/>
          <p:cNvSpPr txBox="1"/>
          <p:nvPr>
            <p:ph idx="1" type="body"/>
          </p:nvPr>
        </p:nvSpPr>
        <p:spPr>
          <a:xfrm>
            <a:off x="4407350" y="1457763"/>
            <a:ext cx="4081800" cy="1963800"/>
          </a:xfrm>
          <a:prstGeom prst="rect">
            <a:avLst/>
          </a:prstGeom>
        </p:spPr>
        <p:txBody>
          <a:bodyPr anchorCtr="0" anchor="t" bIns="91425" lIns="285750" spcFirstLastPara="1" rIns="91425" wrap="square" tIns="91425">
            <a:noAutofit/>
          </a:bodyPr>
          <a:lstStyle/>
          <a:p>
            <a:pPr indent="-177800" lvl="0" marL="0" rtl="0" algn="l">
              <a:spcBef>
                <a:spcPts val="0"/>
              </a:spcBef>
              <a:spcAft>
                <a:spcPts val="0"/>
              </a:spcAft>
              <a:buSzPts val="1000"/>
              <a:buChar char="●"/>
            </a:pPr>
            <a:r>
              <a:rPr lang="en" sz="1000"/>
              <a:t>Compared to the rest of NYC, Canarsie is incredibly stable. (expl. luxury neighborhoods have deviations of $1,000 to $3,000+ per sq ft!)</a:t>
            </a:r>
            <a:endParaRPr sz="1000"/>
          </a:p>
          <a:p>
            <a:pPr indent="-177800" lvl="0" marL="0" rtl="0" algn="l">
              <a:spcBef>
                <a:spcPts val="0"/>
              </a:spcBef>
              <a:spcAft>
                <a:spcPts val="0"/>
              </a:spcAft>
              <a:buSzPts val="1000"/>
              <a:buChar char="●"/>
            </a:pPr>
            <a:r>
              <a:rPr lang="en" sz="1000"/>
              <a:t>Canarsie is one of NYC's most stable and transparent markets. A brokerage entering this area faces low risk and a low barrier to entry. </a:t>
            </a:r>
            <a:endParaRPr sz="1000"/>
          </a:p>
          <a:p>
            <a:pPr indent="-177800" lvl="0" marL="0" rtl="0" algn="l">
              <a:spcBef>
                <a:spcPts val="0"/>
              </a:spcBef>
              <a:spcAft>
                <a:spcPts val="0"/>
              </a:spcAft>
              <a:buSzPts val="1000"/>
              <a:buChar char="●"/>
            </a:pPr>
            <a:r>
              <a:rPr lang="en" sz="1000"/>
              <a:t>Success here does not require unlocking hidden pricing secrets; it requires building a volume-driven business that wins on superior customer service and operational efficiency.</a:t>
            </a:r>
            <a:endParaRPr sz="1000"/>
          </a:p>
        </p:txBody>
      </p:sp>
      <p:sp>
        <p:nvSpPr>
          <p:cNvPr id="169" name="Google Shape;169;p22"/>
          <p:cNvSpPr/>
          <p:nvPr/>
        </p:nvSpPr>
        <p:spPr>
          <a:xfrm>
            <a:off x="0" y="0"/>
            <a:ext cx="9144000" cy="2871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0" name="Google Shape;170;p22"/>
          <p:cNvCxnSpPr/>
          <p:nvPr/>
        </p:nvCxnSpPr>
        <p:spPr>
          <a:xfrm>
            <a:off x="458600" y="976025"/>
            <a:ext cx="8255100" cy="0"/>
          </a:xfrm>
          <a:prstGeom prst="straightConnector1">
            <a:avLst/>
          </a:prstGeom>
          <a:noFill/>
          <a:ln cap="flat" cmpd="sng" w="19050">
            <a:solidFill>
              <a:schemeClr val="dk1"/>
            </a:solidFill>
            <a:prstDash val="solid"/>
            <a:round/>
            <a:headEnd len="med" w="med" type="none"/>
            <a:tailEnd len="med" w="med" type="none"/>
          </a:ln>
        </p:spPr>
      </p:cxnSp>
      <p:sp>
        <p:nvSpPr>
          <p:cNvPr id="171" name="Google Shape;171;p22"/>
          <p:cNvSpPr/>
          <p:nvPr/>
        </p:nvSpPr>
        <p:spPr>
          <a:xfrm>
            <a:off x="0" y="5084300"/>
            <a:ext cx="9144000" cy="570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2" name="Google Shape;172;p22"/>
          <p:cNvPicPr preferRelativeResize="0"/>
          <p:nvPr/>
        </p:nvPicPr>
        <p:blipFill>
          <a:blip r:embed="rId3">
            <a:alphaModFix/>
          </a:blip>
          <a:stretch>
            <a:fillRect/>
          </a:stretch>
        </p:blipFill>
        <p:spPr>
          <a:xfrm>
            <a:off x="311700" y="1017725"/>
            <a:ext cx="3705175" cy="3705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3"/>
          <p:cNvSpPr txBox="1"/>
          <p:nvPr>
            <p:ph type="title"/>
          </p:nvPr>
        </p:nvSpPr>
        <p:spPr>
          <a:xfrm>
            <a:off x="311700" y="1877000"/>
            <a:ext cx="8520600" cy="126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7200"/>
              <a:t>Thank you!</a:t>
            </a:r>
            <a:endParaRPr sz="7200"/>
          </a:p>
        </p:txBody>
      </p:sp>
      <p:sp>
        <p:nvSpPr>
          <p:cNvPr id="178" name="Google Shape;178;p23"/>
          <p:cNvSpPr/>
          <p:nvPr/>
        </p:nvSpPr>
        <p:spPr>
          <a:xfrm>
            <a:off x="0" y="0"/>
            <a:ext cx="9144000" cy="2871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9" name="Google Shape;179;p23"/>
          <p:cNvCxnSpPr/>
          <p:nvPr/>
        </p:nvCxnSpPr>
        <p:spPr>
          <a:xfrm>
            <a:off x="458600" y="3102750"/>
            <a:ext cx="8255100" cy="0"/>
          </a:xfrm>
          <a:prstGeom prst="straightConnector1">
            <a:avLst/>
          </a:prstGeom>
          <a:noFill/>
          <a:ln cap="flat" cmpd="sng" w="19050">
            <a:solidFill>
              <a:schemeClr val="dk1"/>
            </a:solidFill>
            <a:prstDash val="solid"/>
            <a:round/>
            <a:headEnd len="med" w="med" type="none"/>
            <a:tailEnd len="med" w="med" type="none"/>
          </a:ln>
        </p:spPr>
      </p:cxnSp>
      <p:sp>
        <p:nvSpPr>
          <p:cNvPr id="180" name="Google Shape;180;p23"/>
          <p:cNvSpPr/>
          <p:nvPr/>
        </p:nvSpPr>
        <p:spPr>
          <a:xfrm>
            <a:off x="0" y="5084300"/>
            <a:ext cx="9144000" cy="57000"/>
          </a:xfrm>
          <a:prstGeom prst="rect">
            <a:avLst/>
          </a:prstGeom>
          <a:solidFill>
            <a:srgbClr val="A40C34"/>
          </a:solidFill>
          <a:ln cap="flat" cmpd="sng" w="9525">
            <a:solidFill>
              <a:srgbClr val="A40C3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23"/>
          <p:cNvSpPr txBox="1"/>
          <p:nvPr/>
        </p:nvSpPr>
        <p:spPr>
          <a:xfrm>
            <a:off x="516350" y="4734100"/>
            <a:ext cx="8197200" cy="28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hlinkClick r:id="rId3"/>
              </a:rPr>
              <a:t>https://colab.research.google.com/drive/1uVIPuNPJ8M9zbvCk8l8nBezipttdWl1G?usp=sharing</a:t>
            </a:r>
            <a:endParaRPr sz="1200">
              <a:solidFill>
                <a:schemeClr val="dk2"/>
              </a:solidFill>
            </a:endParaRPr>
          </a:p>
          <a:p>
            <a:pPr indent="0" lvl="0" marL="0" rtl="0" algn="l">
              <a:spcBef>
                <a:spcPts val="0"/>
              </a:spcBef>
              <a:spcAft>
                <a:spcPts val="0"/>
              </a:spcAft>
              <a:buNone/>
            </a:pPr>
            <a:r>
              <a:t/>
            </a:r>
            <a:endParaRPr sz="12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